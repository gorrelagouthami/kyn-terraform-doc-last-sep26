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206240"/>
            <a:ext cx="3840480" cy="384048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ON MICROSOFT AZURE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77440"/>
            <a:ext cx="10058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Workflow, Resource Blocks,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&amp; State File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3434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9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practical, example-driven walkthrough of init → validate → plan → apply → destroy, how resource references wire a VNet to a Subnet, and how Terraform tracks it all in state.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4572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6263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 •  Infrastructure as Code  •  Azure Resource Manager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365760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4F8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76479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76479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&amp; Terraform Recap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22199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declarative, provider-driven infrastructure matters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60020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4F8F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76479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7360920" y="176479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Workflow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360920" y="222199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→ validate → plan → apply → destroy, in detail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4F8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18211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318211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Resource Block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363931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type, local name, and arguments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09360" y="301752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4F8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37960" y="318211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7360920" y="318211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 Resources with References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360920" y="363931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an Azure VNet to a Subnet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4348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4F8F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459943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459943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Terraform State File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600200" y="505663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stores, why it matters, and remote state on Azure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309360" y="44348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4F8F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37960" y="459943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7360920" y="459943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360920" y="505663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Habits that keep Terraform configs safe at scale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 in One Slide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365760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5577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is HashiCorp's Infrastructure-as-Code tool: you describe the Azure resources you want in human-readable configuration files, and Terraform figures out how to create, update, or remove real infrastructure to match.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3273552"/>
            <a:ext cx="310896" cy="3108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3273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172968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describe the end state (a VNet, a VM); Terraform works out the steps.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050792"/>
            <a:ext cx="310896" cy="3108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4050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3950208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Provider-driven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azurerm provider translates HCL into Azure Resource Manager API calls.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828032"/>
            <a:ext cx="310896" cy="3108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828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4727448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before you act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is previewed before anything touches real infrastructure.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5605272"/>
            <a:ext cx="310896" cy="3108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5605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5504688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remembers what it created, so it can detect drift and update safely.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766560" y="196596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F4F8F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766560" y="2093976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 Config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766560" y="244144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main.tf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366760" y="1965960"/>
            <a:ext cx="274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732520" y="196596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1C729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732520" y="2093976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Core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732520" y="244144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EF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 / apply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332720" y="1965960"/>
            <a:ext cx="274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0515600" y="196596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F4F8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515600" y="2093976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0515600" y="244144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ARM API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766560" y="31089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continuously reconciles this loop — config in, real Azure resources out.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WORKFLOW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Commands, One Lifecycle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365760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377440"/>
            <a:ext cx="1737360" cy="1554480"/>
          </a:xfrm>
          <a:prstGeom prst="roundRect">
            <a:avLst>
              <a:gd name="adj" fmla="val 5882"/>
            </a:avLst>
          </a:prstGeom>
          <a:solidFill>
            <a:srgbClr val="F4F8FA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35608" y="2084832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35608" y="20848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7432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3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init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246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2377440"/>
            <a:ext cx="4800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040380" y="2377440"/>
            <a:ext cx="1737360" cy="1554480"/>
          </a:xfrm>
          <a:prstGeom prst="roundRect">
            <a:avLst>
              <a:gd name="adj" fmla="val 5882"/>
            </a:avLst>
          </a:prstGeom>
          <a:solidFill>
            <a:srgbClr val="F4F8FA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3028" y="2084832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53028" y="20848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086100" y="27432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3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validate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086100" y="3246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777740" y="2377440"/>
            <a:ext cx="4800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257800" y="2377440"/>
            <a:ext cx="1737360" cy="1554480"/>
          </a:xfrm>
          <a:prstGeom prst="roundRect">
            <a:avLst>
              <a:gd name="adj" fmla="val 5882"/>
            </a:avLst>
          </a:prstGeom>
          <a:solidFill>
            <a:srgbClr val="F4F8FA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70448" y="2084832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870448" y="20848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303520" y="27432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3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plan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303520" y="3246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995160" y="2377440"/>
            <a:ext cx="4800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475220" y="2377440"/>
            <a:ext cx="1737360" cy="1554480"/>
          </a:xfrm>
          <a:prstGeom prst="roundRect">
            <a:avLst>
              <a:gd name="adj" fmla="val 5882"/>
            </a:avLst>
          </a:prstGeom>
          <a:solidFill>
            <a:srgbClr val="F4F8FA"/>
          </a:solidFill>
          <a:ln w="19050">
            <a:solidFill>
              <a:srgbClr val="2E7D5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87868" y="208483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087868" y="20848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520940" y="27432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3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apply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7520940" y="3246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9212580" y="2377440"/>
            <a:ext cx="4800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</a:rPr>
              <a:t>→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9692640" y="2377440"/>
            <a:ext cx="1737360" cy="1554480"/>
          </a:xfrm>
          <a:prstGeom prst="roundRect">
            <a:avLst>
              <a:gd name="adj" fmla="val 5882"/>
            </a:avLst>
          </a:prstGeom>
          <a:solidFill>
            <a:srgbClr val="F4F8FA"/>
          </a:solidFill>
          <a:ln w="19050">
            <a:solidFill>
              <a:srgbClr val="B23A4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305288" y="2084832"/>
            <a:ext cx="512064" cy="512064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305288" y="20848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9738360" y="27432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3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destroy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9738360" y="3246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Tear Down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822960" y="44348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and validate are safe to re-run anytime — they never touch real infrastructure. plan is a dry run. apply and destroy are the only two commands that change Azure resources.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22960" y="5212080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21295C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097280" y="5212080"/>
            <a:ext cx="9966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8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Typical loop: 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init  (once)   →   edit .tf files   →   terraform plan   →   terraform apply   →   repeat as infrastructure evolves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· STEP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 init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365760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11265408" y="25603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265408" y="256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1732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Initializes the working directory so Terraform can operate on your configuration.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103120"/>
            <a:ext cx="56692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and installs the provider plugin (e.g. azurerm) matching your version constraints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Configures the backend that will store the state file (local or remote, e.g. Azure Storage)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Initializes any child modules referenced in the configuration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.terraform directory and the .terraform.lock.hcl dependency lock file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83680" y="146304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0E2436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812280" y="1627632"/>
            <a:ext cx="46634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init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Initializing the backend...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Initializing provider plugins...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0" y="306324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F4F8F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12280" y="32461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again when: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812280" y="361188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provider or module is added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required_providers block changes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backend configuration changes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· STEP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 validate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365760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11265408" y="25603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265408" y="256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1732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that the configuration is syntactically valid and internally consistent — without contacting Azure or reading real infrastructure.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5120640" cy="2834640"/>
          </a:xfrm>
          <a:prstGeom prst="roundRect">
            <a:avLst>
              <a:gd name="adj" fmla="val 2581"/>
            </a:avLst>
          </a:prstGeom>
          <a:solidFill>
            <a:srgbClr val="F4F8F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651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catches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063240"/>
            <a:ext cx="4572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Malformed HCL syntax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required arguments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mismatches (string vs number)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references to undeclared resources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35040" y="2423160"/>
            <a:ext cx="5120640" cy="2834640"/>
          </a:xfrm>
          <a:prstGeom prst="roundRect">
            <a:avLst>
              <a:gd name="adj" fmla="val 2581"/>
            </a:avLst>
          </a:prstGeom>
          <a:solidFill>
            <a:srgbClr val="F4F8F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09360" y="2651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NOT do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3063240"/>
            <a:ext cx="4572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check Azure credentials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know if resource names already exist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contact the Azure API at all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guarantee apply will succeed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486400"/>
            <a:ext cx="10607040" cy="822960"/>
          </a:xfrm>
          <a:prstGeom prst="roundRect">
            <a:avLst>
              <a:gd name="adj" fmla="val 8889"/>
            </a:avLst>
          </a:prstGeom>
          <a:solidFill>
            <a:srgbClr val="0E2436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" y="5650992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validate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Success! The configuration is valid.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· STEP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 plan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365760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11265408" y="25603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265408" y="256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173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an execution plan: compares your configuration against the current state and shows exactly what will change — without changing anything.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514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output symbols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502920" cy="411480"/>
          </a:xfrm>
          <a:prstGeom prst="roundRect">
            <a:avLst>
              <a:gd name="adj" fmla="val 13333"/>
            </a:avLst>
          </a:prstGeom>
          <a:solidFill>
            <a:srgbClr val="2E7D5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9260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9260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493008"/>
            <a:ext cx="502920" cy="411480"/>
          </a:xfrm>
          <a:prstGeom prst="roundRect">
            <a:avLst>
              <a:gd name="adj" fmla="val 13333"/>
            </a:avLst>
          </a:prstGeom>
          <a:solidFill>
            <a:srgbClr val="B23A4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49300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49300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059936"/>
            <a:ext cx="502920" cy="411480"/>
          </a:xfrm>
          <a:prstGeom prst="roundRect">
            <a:avLst>
              <a:gd name="adj" fmla="val 13333"/>
            </a:avLst>
          </a:prstGeom>
          <a:solidFill>
            <a:srgbClr val="B8860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05993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4059936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in-place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626864"/>
            <a:ext cx="502920" cy="411480"/>
          </a:xfrm>
          <a:prstGeom prst="roundRect">
            <a:avLst>
              <a:gd name="adj" fmla="val 13333"/>
            </a:avLst>
          </a:prstGeom>
          <a:solidFill>
            <a:srgbClr val="B23A4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462686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-/+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4626864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 and re-create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0" y="1463040"/>
            <a:ext cx="5303520" cy="3931920"/>
          </a:xfrm>
          <a:prstGeom prst="roundRect">
            <a:avLst>
              <a:gd name="adj" fmla="val 1860"/>
            </a:avLst>
          </a:prstGeom>
          <a:solidFill>
            <a:srgbClr val="0E2436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629400" y="1627632"/>
            <a:ext cx="4846320" cy="3602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plan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will perform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following actions: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azurerm_subnet.subnet1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resource "azurerm_subnet"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"subnet1" {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+ name    = "snet-app"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+ prefix  = "10.0.1.0/24"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Plan: 1 to add, 0 to change,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to destroy.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6235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it: terraform plan -out=tfplan  →  guarantees apply runs exactly this reviewed plan.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· STEP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 apply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365760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11265408" y="256032"/>
            <a:ext cx="457200" cy="45720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265408" y="256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17320"/>
            <a:ext cx="5577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the actions proposed in the plan against Azure, then updates the state file to reflect the new reality.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423160"/>
            <a:ext cx="55778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Re-computes the plan (unless you pass a saved tfplan file) and asks for confirmation: yes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the Azure Resource Manager API to create, update, or delete resources in order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Respects the dependency graph — a VNet is created before a Subnet that references it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resulting resource IDs and attributes back into the state file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92240" y="1463040"/>
            <a:ext cx="5212080" cy="2743200"/>
          </a:xfrm>
          <a:prstGeom prst="roundRect">
            <a:avLst>
              <a:gd name="adj" fmla="val 2667"/>
            </a:avLst>
          </a:prstGeom>
          <a:solidFill>
            <a:srgbClr val="0E2436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720840" y="1627632"/>
            <a:ext cx="4754880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apply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Plan: 2 to add, 0 to change,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to destroy.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you want to perform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these actions?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Enter a value: yes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azurerm_virtual_network.vnet: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Creating...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Creation complete after 4s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92240" y="434340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4F8F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20840" y="452628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Non-interactive runs (CI/CD):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apply -auto-approve  skips the confirmation prompt — use only in trusted pipelines.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· STEP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 destroy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365760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11265408" y="256032"/>
            <a:ext cx="457200" cy="457200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265408" y="256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17320"/>
            <a:ext cx="5577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every resource tracked in the state file, in reverse dependency order — the exact opposite of apply.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423160"/>
            <a:ext cx="55778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destroy plan (all resources show as − destroy) and asks for confirmation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Deletes resources in reverse order: Subnet before VNet, VM before NIC before Subnet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affects resources Terraform knows about via the state file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 dev/test environments to avoid paying for idle Azure resources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92240" y="146304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0E2436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720840" y="1627632"/>
            <a:ext cx="475488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destroy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resource "azurerm_subnet"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"subnet1" { ... }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resource "azurerm_virtual_network"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"vnet" { ... }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Plan: 0 to add, 0 to change,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to destroy.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92240" y="3657600"/>
            <a:ext cx="5212080" cy="1920240"/>
          </a:xfrm>
          <a:prstGeom prst="roundRect">
            <a:avLst>
              <a:gd name="adj" fmla="val 3810"/>
            </a:avLst>
          </a:prstGeom>
          <a:solidFill>
            <a:srgbClr val="3D162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20840" y="38404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Use with caution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720840" y="4224528"/>
            <a:ext cx="4754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BD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 is irreversible for stateful resources (databases, storage accounts). Always review the plan, and consider prevent_destroy lifecycle rules on critical resources.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LANGUAGE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Resource Block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365760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</a:t>
            </a:r>
            <a:pPr indent="0" marL="0">
              <a:buNone/>
            </a:pPr>
            <a:r>
              <a:rPr lang="en-US" sz="1800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"azurerm_virtual_network" </a:t>
            </a:r>
            <a:pPr indent="0" marL="0">
              <a:buNone/>
            </a:pPr>
            <a:r>
              <a:rPr lang="en-US" sz="1800" dirty="0">
                <a:solidFill>
                  <a:srgbClr val="F29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"vnet" </a:t>
            </a:r>
            <a:pPr indent="0" marL="0">
              <a:buNone/>
            </a:pPr>
            <a:r>
              <a:rPr lang="en-US" sz="18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... }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203704"/>
            <a:ext cx="73152" cy="365760"/>
          </a:xfrm>
          <a:prstGeom prst="rect">
            <a:avLst/>
          </a:prstGeom>
          <a:solidFill>
            <a:srgbClr val="6FCF9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1488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723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  </a:t>
            </a:r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—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Declares a block that manages one infrastructure object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70632"/>
            <a:ext cx="73152" cy="365760"/>
          </a:xfrm>
          <a:prstGeom prst="rect">
            <a:avLst/>
          </a:prstGeom>
          <a:solidFill>
            <a:srgbClr val="F2C94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715768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723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"azurerm_virtual_network"   </a:t>
            </a:r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Type —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+ object type. Determines which arguments are valid and which Azure API is called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73152" cy="365760"/>
          </a:xfrm>
          <a:prstGeom prst="rect">
            <a:avLst/>
          </a:prstGeom>
          <a:solidFill>
            <a:srgbClr val="F2994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282696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723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"vnet"   </a:t>
            </a:r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Name —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identifier used only inside this configuration to reference this resource elsewhere — never sent to Azure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5943600" cy="2514600"/>
          </a:xfrm>
          <a:prstGeom prst="roundRect">
            <a:avLst>
              <a:gd name="adj" fmla="val 2909"/>
            </a:avLst>
          </a:prstGeom>
          <a:solidFill>
            <a:srgbClr val="0E2436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77240" y="4187952"/>
            <a:ext cx="5486400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"azurerm_virtual_network" "vnet" {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               = "vnet-prod-eastus"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address_space       = ["10.0.0.0/16"]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location            = azurerm_resource_group.rg.location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resource_group_name = azurerm_resource_group.rg.name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tags = {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environment = "production"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40233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4434840"/>
            <a:ext cx="4846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address_space — literal values you choose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location, resource_group_name — reference values pulled from another resource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— an optional nested map argument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RESOURCES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— VNet &amp; Subnet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365760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reference points to another resource's attribute using dot notation: &lt;resource_type&gt;.&lt;local_name&gt;.&lt;attribute&gt;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303520" cy="2286000"/>
          </a:xfrm>
          <a:prstGeom prst="roundRect">
            <a:avLst>
              <a:gd name="adj" fmla="val 3200"/>
            </a:avLst>
          </a:prstGeom>
          <a:solidFill>
            <a:srgbClr val="0E2436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1993392"/>
            <a:ext cx="484632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"azurerm_virtual_network" "vnet" {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               = "vnet-prod"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address_space       = ["10.0.0.0/16"]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location            = "eastus"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resource_group_name = "rg-prod"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22452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azurerm_virtual_network . vnet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5303520" cy="2651760"/>
          </a:xfrm>
          <a:prstGeom prst="roundRect">
            <a:avLst>
              <a:gd name="adj" fmla="val 2759"/>
            </a:avLst>
          </a:prstGeom>
          <a:solidFill>
            <a:srgbClr val="0E2436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37960" y="1993392"/>
            <a:ext cx="4846320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"azurerm_subnet" "subnet1" {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            = "snet-app"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resource_group_name =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azurerm_virtual_network.vnet.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resource_group_name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virtual_network_name =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azurerm_virtual_network.vnet.name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address_prefixes = ["10.0.1.0/24"]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97880" y="2834640"/>
            <a:ext cx="411480" cy="36576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4709160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F4F8F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89204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subnet's virtual_network_name is set to azurerm_virtual_network.vnet.name — not a hard-coded string.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an implicit dependency: Terraform reads the reference and automatically creates the VNet before the Subnet.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VNet's name ever changes, the subnet's configuration updates automatically on the next plan — nothing to keep in sync by hand.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Implicit Dependencies &amp; the Graph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365760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reference Terraform sees becomes an edge in a dependency graph. Terraform walks this graph to decide the safe order for create, update, and destroy operations.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514600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51460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2514600"/>
            <a:ext cx="457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017520" y="2514600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017520" y="251460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2514600"/>
            <a:ext cx="457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212080" y="2514600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212080" y="251460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514600"/>
            <a:ext cx="457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406640" y="2514600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06640" y="251460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0" y="2514600"/>
            <a:ext cx="457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601200" y="2514600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2E7D5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601200" y="251460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3657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order  ———————————————▶   destroy runs in exact reverse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48056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F4F8F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4663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dependency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010912"/>
            <a:ext cx="4572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automatically whenever one resource's argument references another resource's attribute, e.g. azurerm_virtual_network.vnet.name. This is the normal, preferred way.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35040" y="448056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F4F8F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309360" y="4663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dependency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6309360" y="5010912"/>
            <a:ext cx="4572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 with the depends_on = [ ... ] meta-argument, for ordering that isn't visible through any attribute reference (e.g. IAM permissions that must exist first).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Terraform State File?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365760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5669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terraform.tfstate is a JSON file that maps every resource block in your configuration to the real Azure object it created — by resource ID, not by name.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06040"/>
            <a:ext cx="56692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every attribute Azure returned after creation (IDs, IPs, generated names)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only place Terraform stores the link between config and real infrastructure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read on every plan to compute what has changed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updated automatically after every successful apply or destroy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92240" y="146304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0E2436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720840" y="1627632"/>
            <a:ext cx="4754880" cy="3877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terraform.tfstate (excerpt)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"resources": [{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"type": "azurerm_virtual_network",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"name": "vnet",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"instances": [{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"attributes": {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"id": "/subscriptions/.../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vnet-prod",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"name": "vnet-prod",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"address_space": [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"10.0.0.0/16"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]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}]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}]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State File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365760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0876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F4F8FA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76479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7373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130552"/>
            <a:ext cx="4023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each .tf resource block to the exact Azure resource ID Terraform must manage — without it, Terraform can't tell what it owns.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35040" y="150876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F4F8FA"/>
          </a:solidFill>
          <a:ln/>
        </p:spPr>
      </p:sp>
      <p:sp>
        <p:nvSpPr>
          <p:cNvPr id="11" name="Shape 9"/>
          <p:cNvSpPr/>
          <p:nvPr/>
        </p:nvSpPr>
        <p:spPr>
          <a:xfrm>
            <a:off x="6309360" y="176479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0936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0" y="17373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130552"/>
            <a:ext cx="4023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reads state instead of querying every resource in the subscription, so large configurations plan quickly.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38328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F4F8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363931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3639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36118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005072"/>
            <a:ext cx="4023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Refreshing state against Azure reveals manual changes made outside Terraform, so they can be reconciled.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035040" y="338328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F4F8FA"/>
          </a:solidFill>
          <a:ln/>
        </p:spPr>
      </p:sp>
      <p:sp>
        <p:nvSpPr>
          <p:cNvPr id="21" name="Shape 19"/>
          <p:cNvSpPr/>
          <p:nvPr/>
        </p:nvSpPr>
        <p:spPr>
          <a:xfrm>
            <a:off x="6309360" y="363931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09360" y="3639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36118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6949440" y="4005072"/>
            <a:ext cx="4023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remote state lets a whole team and CI pipelines work against the same source of truth, with locking to prevent conflicting applies.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· AZURE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Remote State on Azure Storage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365760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state (terraform.tfstate on disk) works solo, but teams and pipelines need a shared backend. Azure Storage is the natural choice for azurerm.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68880"/>
            <a:ext cx="53949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locking via blob lease — prevents two people running apply at once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at rest and role-based access control on the storage account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source of truth for local runs, teammates, and CI/CD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Versioning/soft-delete on the container protects against a corrupted state file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463040"/>
            <a:ext cx="5532120" cy="3108960"/>
          </a:xfrm>
          <a:prstGeom prst="roundRect">
            <a:avLst>
              <a:gd name="adj" fmla="val 2353"/>
            </a:avLst>
          </a:prstGeom>
          <a:solidFill>
            <a:srgbClr val="0E2436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0" y="1627632"/>
            <a:ext cx="5074920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{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backend "azurerm" {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resource_group_name  = "rg-tfstate"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storage_account_name = "sttfstateprod"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container_name       = "tfstate"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key                  = "network.tfstate"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475488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21295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0" y="4937760"/>
            <a:ext cx="5074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8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adding a backend block: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terraform init again — Terraform detects the change and offers to migrate existing state into the new backend.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to Take Away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75720" y="365760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F4F8F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965960"/>
            <a:ext cx="411480" cy="41148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764792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run terraform plan and read it before every apply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35040" y="160020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F4F8FA"/>
          </a:solidFill>
          <a:ln/>
        </p:spPr>
      </p:sp>
      <p:sp>
        <p:nvSpPr>
          <p:cNvPr id="10" name="Shape 8"/>
          <p:cNvSpPr/>
          <p:nvPr/>
        </p:nvSpPr>
        <p:spPr>
          <a:xfrm>
            <a:off x="6263640" y="1965960"/>
            <a:ext cx="411480" cy="41148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6364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1764792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state remotely (Azure Storage) with locking enabled for any shared work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F4F8FA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3383280"/>
            <a:ext cx="411480" cy="41148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383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182112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hand-edit terraform.tfstate — use terraform state commands instead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035040" y="301752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F4F8FA"/>
          </a:solidFill>
          <a:ln/>
        </p:spPr>
      </p:sp>
      <p:sp>
        <p:nvSpPr>
          <p:cNvPr id="18" name="Shape 16"/>
          <p:cNvSpPr/>
          <p:nvPr/>
        </p:nvSpPr>
        <p:spPr>
          <a:xfrm>
            <a:off x="6263640" y="3383280"/>
            <a:ext cx="411480" cy="41148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63640" y="3383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0" y="3182112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variables and modules instead of hard-coding values like vnet names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43484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F4F8FA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4800600"/>
            <a:ext cx="411480" cy="41148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4800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4599432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sensitive outputs (connection strings, keys) with sensitive = true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035040" y="443484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F4F8FA"/>
          </a:solidFill>
          <a:ln/>
        </p:spPr>
      </p:sp>
      <p:sp>
        <p:nvSpPr>
          <p:cNvPr id="26" name="Shape 24"/>
          <p:cNvSpPr/>
          <p:nvPr/>
        </p:nvSpPr>
        <p:spPr>
          <a:xfrm>
            <a:off x="6263640" y="4800600"/>
            <a:ext cx="411480" cy="41148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263640" y="4800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0" y="4599432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provider versions with required_providers to avoid surprise upgrades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840480"/>
            <a:ext cx="4114800" cy="41148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6517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520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 · validate · plan · apply · destroy   —   resource blocks &amp; references   —   the state file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120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2026-09-22T03:57:15Z</dcterms:created>
  <dcterms:modified xsi:type="dcterms:W3CDTF">2026-09-22T03:57:15Z</dcterms:modified>
</cp:coreProperties>
</file>