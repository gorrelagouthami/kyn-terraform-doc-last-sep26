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7"/>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Oval 2"/>
          <p:cNvSpPr/>
          <p:nvPr/>
        </p:nvSpPr>
        <p:spPr>
          <a:xfrm>
            <a:off x="9875520" y="731520"/>
            <a:ext cx="1188720" cy="1188720"/>
          </a:xfrm>
          <a:prstGeom prst="ellipse">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Oval 3"/>
          <p:cNvSpPr/>
          <p:nvPr/>
        </p:nvSpPr>
        <p:spPr>
          <a:xfrm>
            <a:off x="10607040" y="1554480"/>
            <a:ext cx="640080" cy="640080"/>
          </a:xfrm>
          <a:prstGeom prst="ellipse">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5" name="Oval 4"/>
          <p:cNvSpPr/>
          <p:nvPr/>
        </p:nvSpPr>
        <p:spPr>
          <a:xfrm>
            <a:off x="9326880" y="2011680"/>
            <a:ext cx="320040" cy="320040"/>
          </a:xfrm>
          <a:prstGeom prst="ellipse">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6" name="Oval 5"/>
          <p:cNvSpPr/>
          <p:nvPr/>
        </p:nvSpPr>
        <p:spPr>
          <a:xfrm>
            <a:off x="11064240" y="457200"/>
            <a:ext cx="228600" cy="228600"/>
          </a:xfrm>
          <a:prstGeom prst="ellipse">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7" name="TextBox 6"/>
          <p:cNvSpPr txBox="1"/>
          <p:nvPr/>
        </p:nvSpPr>
        <p:spPr>
          <a:xfrm>
            <a:off x="685800" y="1143000"/>
            <a:ext cx="8595360" cy="1371600"/>
          </a:xfrm>
          <a:prstGeom prst="rect">
            <a:avLst/>
          </a:prstGeom>
          <a:noFill/>
        </p:spPr>
        <p:txBody>
          <a:bodyPr wrap="square" lIns="38100" rIns="38100" tIns="25400" bIns="25400">
            <a:spAutoFit/>
          </a:bodyPr>
          <a:lstStyle/>
          <a:p>
            <a:pPr>
              <a:defRPr sz="4200" b="1">
                <a:solidFill>
                  <a:srgbClr val="FFFFFF"/>
                </a:solidFill>
              </a:defRPr>
            </a:pPr>
            <a:r>
              <a:rPr sz="1100">
                <a:solidFill>
                  <a:srgbClr val="232A37"/>
                </a:solidFill>
                <a:latin typeface="Arial"/>
              </a:rPr>
              <a:t>Terraform on Azure</a:t>
            </a:r>
          </a:p>
        </p:txBody>
      </p:sp>
      <p:sp>
        <p:nvSpPr>
          <p:cNvPr id="8" name="TextBox 7"/>
          <p:cNvSpPr txBox="1"/>
          <p:nvPr/>
        </p:nvSpPr>
        <p:spPr>
          <a:xfrm>
            <a:off x="713232" y="2514600"/>
            <a:ext cx="8046720" cy="822960"/>
          </a:xfrm>
          <a:prstGeom prst="rect">
            <a:avLst/>
          </a:prstGeom>
          <a:noFill/>
        </p:spPr>
        <p:txBody>
          <a:bodyPr wrap="square" lIns="38100" rIns="38100" tIns="25400" bIns="25400">
            <a:spAutoFit/>
          </a:bodyPr>
          <a:lstStyle/>
          <a:p>
            <a:pPr>
              <a:defRPr sz="2200">
                <a:solidFill>
                  <a:srgbClr val="2DBECD"/>
                </a:solidFill>
              </a:defRPr>
            </a:pPr>
            <a:r>
              <a:rPr sz="1100">
                <a:solidFill>
                  <a:srgbClr val="232A37"/>
                </a:solidFill>
                <a:latin typeface="Arial"/>
              </a:rPr>
              <a:t>Complete KYN Project Architecture &amp; Implementation</a:t>
            </a:r>
          </a:p>
        </p:txBody>
      </p:sp>
      <p:sp>
        <p:nvSpPr>
          <p:cNvPr id="9" name="Rounded Rectangle 8"/>
          <p:cNvSpPr/>
          <p:nvPr/>
        </p:nvSpPr>
        <p:spPr>
          <a:xfrm>
            <a:off x="731520" y="3703320"/>
            <a:ext cx="146304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731520" y="3721607"/>
            <a:ext cx="146304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IaC</a:t>
            </a:r>
          </a:p>
        </p:txBody>
      </p:sp>
      <p:sp>
        <p:nvSpPr>
          <p:cNvPr id="11" name="Rounded Rectangle 10"/>
          <p:cNvSpPr/>
          <p:nvPr/>
        </p:nvSpPr>
        <p:spPr>
          <a:xfrm>
            <a:off x="2331720" y="3703320"/>
            <a:ext cx="1920240" cy="310896"/>
          </a:xfrm>
          <a:prstGeom prst="round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2331720" y="3721607"/>
            <a:ext cx="192024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AZURERM</a:t>
            </a:r>
          </a:p>
        </p:txBody>
      </p:sp>
      <p:sp>
        <p:nvSpPr>
          <p:cNvPr id="13" name="Rounded Rectangle 12"/>
          <p:cNvSpPr/>
          <p:nvPr/>
        </p:nvSpPr>
        <p:spPr>
          <a:xfrm>
            <a:off x="4389120" y="3703320"/>
            <a:ext cx="173736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4389120" y="3721607"/>
            <a:ext cx="17373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NETWORKING</a:t>
            </a:r>
          </a:p>
        </p:txBody>
      </p:sp>
      <p:sp>
        <p:nvSpPr>
          <p:cNvPr id="15" name="Rounded Rectangle 14"/>
          <p:cNvSpPr/>
          <p:nvPr/>
        </p:nvSpPr>
        <p:spPr>
          <a:xfrm>
            <a:off x="6309360" y="3703320"/>
            <a:ext cx="1554480" cy="310896"/>
          </a:xfrm>
          <a:prstGeom prst="round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309360" y="3721607"/>
            <a:ext cx="1554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LOAD BALANCER</a:t>
            </a:r>
          </a:p>
        </p:txBody>
      </p:sp>
      <p:sp>
        <p:nvSpPr>
          <p:cNvPr id="17" name="TextBox 16"/>
          <p:cNvSpPr txBox="1"/>
          <p:nvPr/>
        </p:nvSpPr>
        <p:spPr>
          <a:xfrm>
            <a:off x="731520" y="4892040"/>
            <a:ext cx="7955279" cy="1005840"/>
          </a:xfrm>
          <a:prstGeom prst="rect">
            <a:avLst/>
          </a:prstGeom>
          <a:noFill/>
        </p:spPr>
        <p:txBody>
          <a:bodyPr wrap="square" lIns="38100" rIns="38100" tIns="25400" bIns="25400">
            <a:spAutoFit/>
          </a:bodyPr>
          <a:lstStyle/>
          <a:p>
            <a:pPr>
              <a:defRPr sz="1500">
                <a:solidFill>
                  <a:srgbClr val="D2DCEB"/>
                </a:solidFill>
              </a:defRPr>
            </a:pPr>
            <a:r>
              <a:rPr sz="1100">
                <a:solidFill>
                  <a:srgbClr val="232A37"/>
                </a:solidFill>
                <a:latin typeface="Arial"/>
              </a:rPr>
              <a:t>Resource Group • VNet • Subnet • NSG • NIC • Ubuntu VMs • Azure Load Balancer • Azure Blob State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Learning Objectives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Understand the architecture, Terraform language, state, networking and VM/LB deployment.</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OVERVIEW</a:t>
            </a:r>
          </a:p>
        </p:txBody>
      </p:sp>
      <p:sp>
        <p:nvSpPr>
          <p:cNvPr id="7" name="Rounded Rectangle 6"/>
          <p:cNvSpPr/>
          <p:nvPr/>
        </p:nvSpPr>
        <p:spPr>
          <a:xfrm>
            <a:off x="594360" y="141732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Rectangle 7"/>
          <p:cNvSpPr/>
          <p:nvPr/>
        </p:nvSpPr>
        <p:spPr>
          <a:xfrm>
            <a:off x="594360" y="1417320"/>
            <a:ext cx="64008" cy="17830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9" name="TextBox 8"/>
          <p:cNvSpPr txBox="1"/>
          <p:nvPr/>
        </p:nvSpPr>
        <p:spPr>
          <a:xfrm>
            <a:off x="795528" y="155448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Terraform Foundations</a:t>
            </a:r>
          </a:p>
        </p:txBody>
      </p:sp>
      <p:sp>
        <p:nvSpPr>
          <p:cNvPr id="10" name="TextBox 9"/>
          <p:cNvSpPr txBox="1"/>
          <p:nvPr/>
        </p:nvSpPr>
        <p:spPr>
          <a:xfrm>
            <a:off x="795528" y="201168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Providers, resources, variables, locals, outputs, data flow</a:t>
            </a:r>
          </a:p>
        </p:txBody>
      </p:sp>
      <p:sp>
        <p:nvSpPr>
          <p:cNvPr id="11" name="Rounded Rectangle 10"/>
          <p:cNvSpPr/>
          <p:nvPr/>
        </p:nvSpPr>
        <p:spPr>
          <a:xfrm>
            <a:off x="777240" y="1600200"/>
            <a:ext cx="41148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77240" y="161848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01</a:t>
            </a:r>
          </a:p>
        </p:txBody>
      </p:sp>
      <p:sp>
        <p:nvSpPr>
          <p:cNvPr id="13" name="Rounded Rectangle 12"/>
          <p:cNvSpPr/>
          <p:nvPr/>
        </p:nvSpPr>
        <p:spPr>
          <a:xfrm>
            <a:off x="4389120" y="141732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Rectangle 13"/>
          <p:cNvSpPr/>
          <p:nvPr/>
        </p:nvSpPr>
        <p:spPr>
          <a:xfrm>
            <a:off x="4389120" y="1417320"/>
            <a:ext cx="64008" cy="17830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TextBox 14"/>
          <p:cNvSpPr txBox="1"/>
          <p:nvPr/>
        </p:nvSpPr>
        <p:spPr>
          <a:xfrm>
            <a:off x="4590288" y="155448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Azure Networking</a:t>
            </a:r>
          </a:p>
        </p:txBody>
      </p:sp>
      <p:sp>
        <p:nvSpPr>
          <p:cNvPr id="16" name="TextBox 15"/>
          <p:cNvSpPr txBox="1"/>
          <p:nvPr/>
        </p:nvSpPr>
        <p:spPr>
          <a:xfrm>
            <a:off x="4590288" y="201168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Resource Group, VNet, subnet, NSG, NIC and private IPs</a:t>
            </a:r>
          </a:p>
        </p:txBody>
      </p:sp>
      <p:sp>
        <p:nvSpPr>
          <p:cNvPr id="17" name="Rounded Rectangle 16"/>
          <p:cNvSpPr/>
          <p:nvPr/>
        </p:nvSpPr>
        <p:spPr>
          <a:xfrm>
            <a:off x="4572000" y="1600200"/>
            <a:ext cx="41148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8" name="TextBox 17"/>
          <p:cNvSpPr txBox="1"/>
          <p:nvPr/>
        </p:nvSpPr>
        <p:spPr>
          <a:xfrm>
            <a:off x="4572000" y="161848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02</a:t>
            </a:r>
          </a:p>
        </p:txBody>
      </p:sp>
      <p:sp>
        <p:nvSpPr>
          <p:cNvPr id="19" name="Rounded Rectangle 18"/>
          <p:cNvSpPr/>
          <p:nvPr/>
        </p:nvSpPr>
        <p:spPr>
          <a:xfrm>
            <a:off x="8183880" y="141732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Rectangle 19"/>
          <p:cNvSpPr/>
          <p:nvPr/>
        </p:nvSpPr>
        <p:spPr>
          <a:xfrm>
            <a:off x="8183880" y="1417320"/>
            <a:ext cx="64008" cy="17830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1" name="TextBox 20"/>
          <p:cNvSpPr txBox="1"/>
          <p:nvPr/>
        </p:nvSpPr>
        <p:spPr>
          <a:xfrm>
            <a:off x="8385048" y="155448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Compute</a:t>
            </a:r>
          </a:p>
        </p:txBody>
      </p:sp>
      <p:sp>
        <p:nvSpPr>
          <p:cNvPr id="22" name="TextBox 21"/>
          <p:cNvSpPr txBox="1"/>
          <p:nvPr/>
        </p:nvSpPr>
        <p:spPr>
          <a:xfrm>
            <a:off x="8385048" y="201168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for_each, VM maps, zones, SSH keys, cloud-init/custom_data</a:t>
            </a:r>
          </a:p>
        </p:txBody>
      </p:sp>
      <p:sp>
        <p:nvSpPr>
          <p:cNvPr id="23" name="Rounded Rectangle 22"/>
          <p:cNvSpPr/>
          <p:nvPr/>
        </p:nvSpPr>
        <p:spPr>
          <a:xfrm>
            <a:off x="8366760" y="1600200"/>
            <a:ext cx="411480" cy="310896"/>
          </a:xfrm>
          <a:prstGeom prst="round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TextBox 23"/>
          <p:cNvSpPr txBox="1"/>
          <p:nvPr/>
        </p:nvSpPr>
        <p:spPr>
          <a:xfrm>
            <a:off x="8366760" y="161848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03</a:t>
            </a:r>
          </a:p>
        </p:txBody>
      </p:sp>
      <p:sp>
        <p:nvSpPr>
          <p:cNvPr id="25" name="Rounded Rectangle 24"/>
          <p:cNvSpPr/>
          <p:nvPr/>
        </p:nvSpPr>
        <p:spPr>
          <a:xfrm>
            <a:off x="594360" y="356616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6" name="Rectangle 25"/>
          <p:cNvSpPr/>
          <p:nvPr/>
        </p:nvSpPr>
        <p:spPr>
          <a:xfrm>
            <a:off x="594360" y="3566160"/>
            <a:ext cx="64008" cy="178308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7" name="TextBox 26"/>
          <p:cNvSpPr txBox="1"/>
          <p:nvPr/>
        </p:nvSpPr>
        <p:spPr>
          <a:xfrm>
            <a:off x="795528" y="370332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Load Balancing</a:t>
            </a:r>
          </a:p>
        </p:txBody>
      </p:sp>
      <p:sp>
        <p:nvSpPr>
          <p:cNvPr id="28" name="TextBox 27"/>
          <p:cNvSpPr txBox="1"/>
          <p:nvPr/>
        </p:nvSpPr>
        <p:spPr>
          <a:xfrm>
            <a:off x="795528" y="416052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Public IP, backend pool, probe, rule and NIC association</a:t>
            </a:r>
          </a:p>
        </p:txBody>
      </p:sp>
      <p:sp>
        <p:nvSpPr>
          <p:cNvPr id="29" name="Rounded Rectangle 28"/>
          <p:cNvSpPr/>
          <p:nvPr/>
        </p:nvSpPr>
        <p:spPr>
          <a:xfrm>
            <a:off x="777240" y="3749040"/>
            <a:ext cx="411480" cy="310896"/>
          </a:xfrm>
          <a:prstGeom prst="round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0" name="TextBox 29"/>
          <p:cNvSpPr txBox="1"/>
          <p:nvPr/>
        </p:nvSpPr>
        <p:spPr>
          <a:xfrm>
            <a:off x="777240" y="376732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04</a:t>
            </a:r>
          </a:p>
        </p:txBody>
      </p:sp>
      <p:sp>
        <p:nvSpPr>
          <p:cNvPr id="31" name="Rounded Rectangle 30"/>
          <p:cNvSpPr/>
          <p:nvPr/>
        </p:nvSpPr>
        <p:spPr>
          <a:xfrm>
            <a:off x="4389120" y="356616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2" name="Rectangle 31"/>
          <p:cNvSpPr/>
          <p:nvPr/>
        </p:nvSpPr>
        <p:spPr>
          <a:xfrm>
            <a:off x="4389120" y="3566160"/>
            <a:ext cx="64008" cy="1783080"/>
          </a:xfrm>
          <a:prstGeom prst="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3" name="TextBox 32"/>
          <p:cNvSpPr txBox="1"/>
          <p:nvPr/>
        </p:nvSpPr>
        <p:spPr>
          <a:xfrm>
            <a:off x="4590288" y="370332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State Management</a:t>
            </a:r>
          </a:p>
        </p:txBody>
      </p:sp>
      <p:sp>
        <p:nvSpPr>
          <p:cNvPr id="34" name="TextBox 33"/>
          <p:cNvSpPr txBox="1"/>
          <p:nvPr/>
        </p:nvSpPr>
        <p:spPr>
          <a:xfrm>
            <a:off x="4590288" y="416052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Azure Storage Account + Blob container + remote state key</a:t>
            </a:r>
          </a:p>
        </p:txBody>
      </p:sp>
      <p:sp>
        <p:nvSpPr>
          <p:cNvPr id="35" name="Rounded Rectangle 34"/>
          <p:cNvSpPr/>
          <p:nvPr/>
        </p:nvSpPr>
        <p:spPr>
          <a:xfrm>
            <a:off x="4572000" y="3749040"/>
            <a:ext cx="411480" cy="310896"/>
          </a:xfrm>
          <a:prstGeom prst="round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6" name="TextBox 35"/>
          <p:cNvSpPr txBox="1"/>
          <p:nvPr/>
        </p:nvSpPr>
        <p:spPr>
          <a:xfrm>
            <a:off x="4572000" y="376732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05</a:t>
            </a:r>
          </a:p>
        </p:txBody>
      </p:sp>
      <p:sp>
        <p:nvSpPr>
          <p:cNvPr id="37" name="Rounded Rectangle 36"/>
          <p:cNvSpPr/>
          <p:nvPr/>
        </p:nvSpPr>
        <p:spPr>
          <a:xfrm>
            <a:off x="8183880" y="3566160"/>
            <a:ext cx="3429000" cy="17830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8" name="Rectangle 37"/>
          <p:cNvSpPr/>
          <p:nvPr/>
        </p:nvSpPr>
        <p:spPr>
          <a:xfrm>
            <a:off x="8183880" y="3566160"/>
            <a:ext cx="64008" cy="178308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9" name="TextBox 38"/>
          <p:cNvSpPr txBox="1"/>
          <p:nvPr/>
        </p:nvSpPr>
        <p:spPr>
          <a:xfrm>
            <a:off x="8385048" y="3703320"/>
            <a:ext cx="3063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Operations</a:t>
            </a:r>
          </a:p>
        </p:txBody>
      </p:sp>
      <p:sp>
        <p:nvSpPr>
          <p:cNvPr id="40" name="TextBox 39"/>
          <p:cNvSpPr txBox="1"/>
          <p:nvPr/>
        </p:nvSpPr>
        <p:spPr>
          <a:xfrm>
            <a:off x="8385048" y="4160520"/>
            <a:ext cx="3044952" cy="106984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init, validate, plan, apply, outputs, destroy and troubleshooting</a:t>
            </a:r>
          </a:p>
        </p:txBody>
      </p:sp>
      <p:sp>
        <p:nvSpPr>
          <p:cNvPr id="41" name="Rounded Rectangle 40"/>
          <p:cNvSpPr/>
          <p:nvPr/>
        </p:nvSpPr>
        <p:spPr>
          <a:xfrm>
            <a:off x="8366760" y="3749040"/>
            <a:ext cx="411480" cy="310896"/>
          </a:xfrm>
          <a:prstGeom prst="round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2" name="TextBox 41"/>
          <p:cNvSpPr txBox="1"/>
          <p:nvPr/>
        </p:nvSpPr>
        <p:spPr>
          <a:xfrm>
            <a:off x="8366760" y="3767328"/>
            <a:ext cx="4114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06</a:t>
            </a:r>
          </a:p>
        </p:txBody>
      </p:sp>
      <p:sp>
        <p:nvSpPr>
          <p:cNvPr id="43" name="TextBox 42"/>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Target Azure Architecture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configuration creates a reusable two-VM web tier behind an Azure Load Balancer.</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ARCHITECTURE</a:t>
            </a:r>
          </a:p>
        </p:txBody>
      </p:sp>
      <p:sp>
        <p:nvSpPr>
          <p:cNvPr id="7" name="Rounded Rectangle 6"/>
          <p:cNvSpPr/>
          <p:nvPr/>
        </p:nvSpPr>
        <p:spPr>
          <a:xfrm>
            <a:off x="502920" y="1234440"/>
            <a:ext cx="11109960" cy="4800600"/>
          </a:xfrm>
          <a:prstGeom prst="roundRect">
            <a:avLst/>
          </a:prstGeom>
          <a:solidFill>
            <a:srgbClr val="FAFCFF"/>
          </a:solidFill>
          <a:ln>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731520" y="1353312"/>
            <a:ext cx="2743200" cy="320040"/>
          </a:xfrm>
          <a:prstGeom prst="rect">
            <a:avLst/>
          </a:prstGeom>
          <a:noFill/>
        </p:spPr>
        <p:txBody>
          <a:bodyPr wrap="square" lIns="38100" rIns="38100" tIns="25400" bIns="25400">
            <a:spAutoFit/>
          </a:bodyPr>
          <a:lstStyle/>
          <a:p>
            <a:pPr>
              <a:defRPr sz="1600" b="1">
                <a:solidFill>
                  <a:srgbClr val="2D69DC"/>
                </a:solidFill>
              </a:defRPr>
            </a:pPr>
            <a:r>
              <a:rPr sz="1100">
                <a:solidFill>
                  <a:srgbClr val="232A37"/>
                </a:solidFill>
                <a:latin typeface="Arial"/>
              </a:rPr>
              <a:t>Resource Group</a:t>
            </a:r>
          </a:p>
        </p:txBody>
      </p:sp>
      <p:sp>
        <p:nvSpPr>
          <p:cNvPr id="9" name="Rounded Rectangle 8"/>
          <p:cNvSpPr/>
          <p:nvPr/>
        </p:nvSpPr>
        <p:spPr>
          <a:xfrm>
            <a:off x="4663440" y="1600200"/>
            <a:ext cx="2743200" cy="59436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4736592" y="1673352"/>
            <a:ext cx="2596896" cy="44805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Public IP</a:t>
            </a:r>
          </a:p>
        </p:txBody>
      </p:sp>
      <p:sp>
        <p:nvSpPr>
          <p:cNvPr id="11" name="Rounded Rectangle 10"/>
          <p:cNvSpPr/>
          <p:nvPr/>
        </p:nvSpPr>
        <p:spPr>
          <a:xfrm>
            <a:off x="4343400" y="2514600"/>
            <a:ext cx="3383280" cy="68580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4416552" y="2587752"/>
            <a:ext cx="3236976" cy="5394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Azure Load Balancer</a:t>
            </a:r>
          </a:p>
        </p:txBody>
      </p:sp>
      <p:sp>
        <p:nvSpPr>
          <p:cNvPr id="13" name="Rounded Rectangle 12"/>
          <p:cNvSpPr/>
          <p:nvPr/>
        </p:nvSpPr>
        <p:spPr>
          <a:xfrm>
            <a:off x="1005840" y="4023360"/>
            <a:ext cx="2331720" cy="77724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1078992" y="4096512"/>
            <a:ext cx="2185415"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Web VM 1</a:t>
            </a:r>
            <a:br/>
            <a:r>
              <a:rPr sz="1100">
                <a:solidFill>
                  <a:srgbClr val="232A37"/>
                </a:solidFill>
                <a:latin typeface="Arial"/>
              </a:rPr>
              <a:t>Zone 1</a:t>
            </a:r>
          </a:p>
        </p:txBody>
      </p:sp>
      <p:sp>
        <p:nvSpPr>
          <p:cNvPr id="15" name="Rounded Rectangle 14"/>
          <p:cNvSpPr/>
          <p:nvPr/>
        </p:nvSpPr>
        <p:spPr>
          <a:xfrm>
            <a:off x="3657600" y="4023360"/>
            <a:ext cx="2331720" cy="77724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3730752" y="4096512"/>
            <a:ext cx="2185415"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Web VM 2</a:t>
            </a:r>
            <a:br/>
            <a:r>
              <a:rPr sz="1100">
                <a:solidFill>
                  <a:srgbClr val="232A37"/>
                </a:solidFill>
                <a:latin typeface="Arial"/>
              </a:rPr>
              <a:t>Zone 2</a:t>
            </a:r>
          </a:p>
        </p:txBody>
      </p:sp>
      <p:sp>
        <p:nvSpPr>
          <p:cNvPr id="17" name="Rounded Rectangle 16"/>
          <p:cNvSpPr/>
          <p:nvPr/>
        </p:nvSpPr>
        <p:spPr>
          <a:xfrm>
            <a:off x="7406640" y="2743200"/>
            <a:ext cx="2103120" cy="685800"/>
          </a:xfrm>
          <a:prstGeom prst="roundRect">
            <a:avLst/>
          </a:prstGeom>
          <a:solidFill>
            <a:srgbClr val="FFFFFF"/>
          </a:solidFill>
          <a:ln w="19050">
            <a:solidFill>
              <a:srgbClr val="7D5AD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8" name="TextBox 17"/>
          <p:cNvSpPr txBox="1"/>
          <p:nvPr/>
        </p:nvSpPr>
        <p:spPr>
          <a:xfrm>
            <a:off x="7479792" y="2816352"/>
            <a:ext cx="1956815" cy="5394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Backend Pool</a:t>
            </a:r>
          </a:p>
        </p:txBody>
      </p:sp>
      <p:sp>
        <p:nvSpPr>
          <p:cNvPr id="19" name="Rounded Rectangle 18"/>
          <p:cNvSpPr/>
          <p:nvPr/>
        </p:nvSpPr>
        <p:spPr>
          <a:xfrm>
            <a:off x="7315200" y="4069080"/>
            <a:ext cx="2286000" cy="77724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388352" y="4142232"/>
            <a:ext cx="213969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Health Probe</a:t>
            </a:r>
            <a:br/>
            <a:r>
              <a:rPr sz="1100">
                <a:solidFill>
                  <a:srgbClr val="232A37"/>
                </a:solidFill>
                <a:latin typeface="Arial"/>
              </a:rPr>
              <a:t>TCP :80</a:t>
            </a:r>
          </a:p>
        </p:txBody>
      </p:sp>
      <p:sp>
        <p:nvSpPr>
          <p:cNvPr id="21" name="Rounded Rectangle 20"/>
          <p:cNvSpPr/>
          <p:nvPr/>
        </p:nvSpPr>
        <p:spPr>
          <a:xfrm>
            <a:off x="9966960" y="4069080"/>
            <a:ext cx="1188720" cy="777240"/>
          </a:xfrm>
          <a:prstGeom prst="roundRect">
            <a:avLst/>
          </a:prstGeom>
          <a:solidFill>
            <a:srgbClr val="FFFFFF"/>
          </a:solidFill>
          <a:ln w="19050">
            <a:solidFill>
              <a:srgbClr val="DC4E4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2" name="TextBox 21"/>
          <p:cNvSpPr txBox="1"/>
          <p:nvPr/>
        </p:nvSpPr>
        <p:spPr>
          <a:xfrm>
            <a:off x="10040112" y="4142232"/>
            <a:ext cx="104241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NSG</a:t>
            </a:r>
            <a:br/>
            <a:r>
              <a:rPr sz="1100">
                <a:solidFill>
                  <a:srgbClr val="232A37"/>
                </a:solidFill>
                <a:latin typeface="Arial"/>
              </a:rPr>
              <a:t>22/80/443</a:t>
            </a:r>
          </a:p>
        </p:txBody>
      </p:sp>
      <p:cxnSp>
        <p:nvCxnSpPr>
          <p:cNvPr id="23" name="Connector 22"/>
          <p:cNvCxnSpPr/>
          <p:nvPr/>
        </p:nvCxnSpPr>
        <p:spPr>
          <a:xfrm>
            <a:off x="6035040" y="2194560"/>
            <a:ext cx="0" cy="320040"/>
          </a:xfrm>
          <a:prstGeom prst="line">
            <a:avLst/>
          </a:prstGeom>
          <a:ln w="38100">
            <a:solidFill>
              <a:srgbClr val="2D69DC"/>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2194560" y="3200400"/>
            <a:ext cx="3840480" cy="822960"/>
          </a:xfrm>
          <a:prstGeom prst="line">
            <a:avLst/>
          </a:prstGeom>
          <a:ln w="25400">
            <a:solidFill>
              <a:srgbClr val="F2994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4846320" y="3200400"/>
            <a:ext cx="1188720" cy="822960"/>
          </a:xfrm>
          <a:prstGeom prst="line">
            <a:avLst/>
          </a:prstGeom>
          <a:ln w="25400">
            <a:solidFill>
              <a:srgbClr val="F2994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5989320" y="3108960"/>
            <a:ext cx="1737359" cy="1051560"/>
          </a:xfrm>
          <a:prstGeom prst="line">
            <a:avLst/>
          </a:prstGeom>
          <a:ln w="25400">
            <a:solidFill>
              <a:srgbClr val="7D5AD2"/>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58200" y="3429000"/>
            <a:ext cx="0" cy="640080"/>
          </a:xfrm>
          <a:prstGeom prst="line">
            <a:avLst/>
          </a:prstGeom>
          <a:ln w="25400">
            <a:solidFill>
              <a:srgbClr val="2DBECD"/>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14400" y="5257800"/>
            <a:ext cx="201168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TextBox 28"/>
          <p:cNvSpPr txBox="1"/>
          <p:nvPr/>
        </p:nvSpPr>
        <p:spPr>
          <a:xfrm>
            <a:off x="914400" y="5276088"/>
            <a:ext cx="20116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VNet 10.0.0.0/16</a:t>
            </a:r>
          </a:p>
        </p:txBody>
      </p:sp>
      <p:sp>
        <p:nvSpPr>
          <p:cNvPr id="30" name="Rounded Rectangle 29"/>
          <p:cNvSpPr/>
          <p:nvPr/>
        </p:nvSpPr>
        <p:spPr>
          <a:xfrm>
            <a:off x="3154680" y="5257800"/>
            <a:ext cx="205740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1" name="TextBox 30"/>
          <p:cNvSpPr txBox="1"/>
          <p:nvPr/>
        </p:nvSpPr>
        <p:spPr>
          <a:xfrm>
            <a:off x="3154680" y="5276088"/>
            <a:ext cx="205740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Subnet 10.0.1.0/24</a:t>
            </a:r>
          </a:p>
        </p:txBody>
      </p:sp>
      <p:sp>
        <p:nvSpPr>
          <p:cNvPr id="32" name="Rounded Rectangle 31"/>
          <p:cNvSpPr/>
          <p:nvPr/>
        </p:nvSpPr>
        <p:spPr>
          <a:xfrm>
            <a:off x="5440680" y="5257800"/>
            <a:ext cx="1828800" cy="310896"/>
          </a:xfrm>
          <a:prstGeom prst="round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3" name="TextBox 32"/>
          <p:cNvSpPr txBox="1"/>
          <p:nvPr/>
        </p:nvSpPr>
        <p:spPr>
          <a:xfrm>
            <a:off x="5440680" y="5276088"/>
            <a:ext cx="182880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Dynamic Private IP</a:t>
            </a:r>
          </a:p>
        </p:txBody>
      </p:sp>
      <p:sp>
        <p:nvSpPr>
          <p:cNvPr id="34" name="Rounded Rectangle 33"/>
          <p:cNvSpPr/>
          <p:nvPr/>
        </p:nvSpPr>
        <p:spPr>
          <a:xfrm>
            <a:off x="7498079" y="5257800"/>
            <a:ext cx="1920240" cy="310896"/>
          </a:xfrm>
          <a:prstGeom prst="round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5" name="TextBox 34"/>
          <p:cNvSpPr txBox="1"/>
          <p:nvPr/>
        </p:nvSpPr>
        <p:spPr>
          <a:xfrm>
            <a:off x="7498079" y="5276088"/>
            <a:ext cx="192024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Static Public IP</a:t>
            </a:r>
          </a:p>
        </p:txBody>
      </p:sp>
      <p:sp>
        <p:nvSpPr>
          <p:cNvPr id="36" name="TextBox 35"/>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Recommended Project Structure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Separate concerns so the configuration remains teachable and reusable.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FOUNDATIONS</a:t>
            </a:r>
          </a:p>
        </p:txBody>
      </p:sp>
      <p:sp>
        <p:nvSpPr>
          <p:cNvPr id="7" name="Rounded Rectangle 6"/>
          <p:cNvSpPr/>
          <p:nvPr/>
        </p:nvSpPr>
        <p:spPr>
          <a:xfrm>
            <a:off x="685800" y="1325880"/>
            <a:ext cx="4663440" cy="470916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417320"/>
            <a:ext cx="43434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FILES</a:t>
            </a:r>
          </a:p>
        </p:txBody>
      </p:sp>
      <p:sp>
        <p:nvSpPr>
          <p:cNvPr id="9" name="TextBox 8"/>
          <p:cNvSpPr txBox="1"/>
          <p:nvPr/>
        </p:nvSpPr>
        <p:spPr>
          <a:xfrm>
            <a:off x="850392" y="1709928"/>
            <a:ext cx="4343400" cy="418795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kyn-project/</a:t>
            </a:r>
            <a:br/>
            <a:r>
              <a:rPr sz="1000">
                <a:solidFill>
                  <a:srgbClr val="FFFFFF"/>
                </a:solidFill>
                <a:latin typeface="Courier New"/>
              </a:rPr>
              <a:t>├── provider.tf</a:t>
            </a:r>
            <a:br/>
            <a:r>
              <a:rPr sz="1000">
                <a:solidFill>
                  <a:srgbClr val="FFFFFF"/>
                </a:solidFill>
                <a:latin typeface="Courier New"/>
              </a:rPr>
              <a:t>├── backend.tf</a:t>
            </a:r>
            <a:br/>
            <a:r>
              <a:rPr sz="1000">
                <a:solidFill>
                  <a:srgbClr val="FFFFFF"/>
                </a:solidFill>
                <a:latin typeface="Courier New"/>
              </a:rPr>
              <a:t>├── variables.tf</a:t>
            </a:r>
            <a:br/>
            <a:r>
              <a:rPr sz="1000">
                <a:solidFill>
                  <a:srgbClr val="FFFFFF"/>
                </a:solidFill>
                <a:latin typeface="Courier New"/>
              </a:rPr>
              <a:t>├── locals.tf</a:t>
            </a:r>
            <a:br/>
            <a:r>
              <a:rPr sz="1000">
                <a:solidFill>
                  <a:srgbClr val="FFFFFF"/>
                </a:solidFill>
                <a:latin typeface="Courier New"/>
              </a:rPr>
              <a:t>├── resource-group.tf</a:t>
            </a:r>
            <a:br/>
            <a:r>
              <a:rPr sz="1000">
                <a:solidFill>
                  <a:srgbClr val="FFFFFF"/>
                </a:solidFill>
                <a:latin typeface="Courier New"/>
              </a:rPr>
              <a:t>├── vnet.tf</a:t>
            </a:r>
            <a:br/>
            <a:r>
              <a:rPr sz="1000">
                <a:solidFill>
                  <a:srgbClr val="FFFFFF"/>
                </a:solidFill>
                <a:latin typeface="Courier New"/>
              </a:rPr>
              <a:t>├── subnet.tf</a:t>
            </a:r>
            <a:br/>
            <a:r>
              <a:rPr sz="1000">
                <a:solidFill>
                  <a:srgbClr val="FFFFFF"/>
                </a:solidFill>
                <a:latin typeface="Courier New"/>
              </a:rPr>
              <a:t>├── nsg.tf</a:t>
            </a:r>
            <a:br/>
            <a:r>
              <a:rPr sz="1000">
                <a:solidFill>
                  <a:srgbClr val="FFFFFF"/>
                </a:solidFill>
                <a:latin typeface="Courier New"/>
              </a:rPr>
              <a:t>├── nic.tf</a:t>
            </a:r>
            <a:br/>
            <a:r>
              <a:rPr sz="1000">
                <a:solidFill>
                  <a:srgbClr val="FFFFFF"/>
                </a:solidFill>
                <a:latin typeface="Courier New"/>
              </a:rPr>
              <a:t>├── vm.tf</a:t>
            </a:r>
            <a:br/>
            <a:r>
              <a:rPr sz="1000">
                <a:solidFill>
                  <a:srgbClr val="FFFFFF"/>
                </a:solidFill>
                <a:latin typeface="Courier New"/>
              </a:rPr>
              <a:t>├── loadbalancer.tf</a:t>
            </a:r>
            <a:br/>
            <a:r>
              <a:rPr sz="1000">
                <a:solidFill>
                  <a:srgbClr val="FFFFFF"/>
                </a:solidFill>
                <a:latin typeface="Courier New"/>
              </a:rPr>
              <a:t>├── outputs.tf</a:t>
            </a:r>
            <a:br/>
            <a:r>
              <a:rPr sz="1000">
                <a:solidFill>
                  <a:srgbClr val="FFFFFF"/>
                </a:solidFill>
                <a:latin typeface="Courier New"/>
              </a:rPr>
              <a:t>├── app.sh</a:t>
            </a:r>
            <a:br/>
            <a:r>
              <a:rPr sz="1000">
                <a:solidFill>
                  <a:srgbClr val="FFFFFF"/>
                </a:solidFill>
                <a:latin typeface="Courier New"/>
              </a:rPr>
              <a:t>├── ssh-keys/</a:t>
            </a:r>
            <a:br/>
            <a:r>
              <a:rPr sz="1000">
                <a:solidFill>
                  <a:srgbClr val="FFFFFF"/>
                </a:solidFill>
                <a:latin typeface="Courier New"/>
              </a:rPr>
              <a:t>│   └── terraform-azure.pem.pub</a:t>
            </a:r>
            <a:br/>
            <a:r>
              <a:rPr sz="1000">
                <a:solidFill>
                  <a:srgbClr val="FFFFFF"/>
                </a:solidFill>
                <a:latin typeface="Courier New"/>
              </a:rPr>
              <a:t>└── terraform.tfvars</a:t>
            </a:r>
          </a:p>
        </p:txBody>
      </p:sp>
      <p:sp>
        <p:nvSpPr>
          <p:cNvPr id="10" name="Rounded Rectangle 9"/>
          <p:cNvSpPr/>
          <p:nvPr/>
        </p:nvSpPr>
        <p:spPr>
          <a:xfrm>
            <a:off x="5669280" y="1325880"/>
            <a:ext cx="5394960" cy="128016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5669280" y="1325880"/>
            <a:ext cx="64008" cy="128016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5870448" y="1463039"/>
            <a:ext cx="50292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Separation of concerns</a:t>
            </a:r>
          </a:p>
        </p:txBody>
      </p:sp>
      <p:sp>
        <p:nvSpPr>
          <p:cNvPr id="13" name="TextBox 12"/>
          <p:cNvSpPr txBox="1"/>
          <p:nvPr/>
        </p:nvSpPr>
        <p:spPr>
          <a:xfrm>
            <a:off x="5870448" y="1920240"/>
            <a:ext cx="5010912" cy="56692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Each .tf file can represent one logical Azure component. Terraform combines all .tf files in the same module automatically.</a:t>
            </a:r>
          </a:p>
        </p:txBody>
      </p:sp>
      <p:sp>
        <p:nvSpPr>
          <p:cNvPr id="14" name="Rounded Rectangle 13"/>
          <p:cNvSpPr/>
          <p:nvPr/>
        </p:nvSpPr>
        <p:spPr>
          <a:xfrm>
            <a:off x="5669280" y="2788920"/>
            <a:ext cx="5394960" cy="128016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5669280" y="2788920"/>
            <a:ext cx="64008" cy="128016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5870448" y="2926079"/>
            <a:ext cx="50292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Naming convention</a:t>
            </a:r>
          </a:p>
        </p:txBody>
      </p:sp>
      <p:sp>
        <p:nvSpPr>
          <p:cNvPr id="17" name="TextBox 16"/>
          <p:cNvSpPr txBox="1"/>
          <p:nvPr/>
        </p:nvSpPr>
        <p:spPr>
          <a:xfrm>
            <a:off x="5870448" y="3383279"/>
            <a:ext cx="5010912" cy="56692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a common local.name_prefix so resources are predictable and searchable.</a:t>
            </a:r>
          </a:p>
        </p:txBody>
      </p:sp>
      <p:sp>
        <p:nvSpPr>
          <p:cNvPr id="18" name="Rounded Rectangle 17"/>
          <p:cNvSpPr/>
          <p:nvPr/>
        </p:nvSpPr>
        <p:spPr>
          <a:xfrm>
            <a:off x="5669280" y="4251960"/>
            <a:ext cx="5394960" cy="128016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5669280" y="4251960"/>
            <a:ext cx="64008" cy="128016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5870448" y="4389120"/>
            <a:ext cx="50292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Reusable design</a:t>
            </a:r>
          </a:p>
        </p:txBody>
      </p:sp>
      <p:sp>
        <p:nvSpPr>
          <p:cNvPr id="21" name="TextBox 20"/>
          <p:cNvSpPr txBox="1"/>
          <p:nvPr/>
        </p:nvSpPr>
        <p:spPr>
          <a:xfrm>
            <a:off x="5870448" y="4846320"/>
            <a:ext cx="5010912" cy="56692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Move networking, security, compute and load balancing into modules when the project grows.</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Terraform Block &amp; Provider</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Pin the AzureRM provider version to make the training environment reproducible.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FOUNDATIONS</a:t>
            </a:r>
          </a:p>
        </p:txBody>
      </p:sp>
      <p:sp>
        <p:nvSpPr>
          <p:cNvPr id="7" name="Rounded Rectangle 6"/>
          <p:cNvSpPr/>
          <p:nvPr/>
        </p:nvSpPr>
        <p:spPr>
          <a:xfrm>
            <a:off x="685800" y="1280160"/>
            <a:ext cx="4937760" cy="429768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371600"/>
            <a:ext cx="461772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provider.tf</a:t>
            </a:r>
          </a:p>
        </p:txBody>
      </p:sp>
      <p:sp>
        <p:nvSpPr>
          <p:cNvPr id="9" name="TextBox 8"/>
          <p:cNvSpPr txBox="1"/>
          <p:nvPr/>
        </p:nvSpPr>
        <p:spPr>
          <a:xfrm>
            <a:off x="850392" y="1664207"/>
            <a:ext cx="4617720" cy="377647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terraform {</a:t>
            </a:r>
            <a:br/>
            <a:r>
              <a:rPr sz="1000">
                <a:solidFill>
                  <a:srgbClr val="FFFFFF"/>
                </a:solidFill>
                <a:latin typeface="Courier New"/>
              </a:rPr>
              <a:t>  required_providers {</a:t>
            </a:r>
            <a:br/>
            <a:r>
              <a:rPr sz="1000">
                <a:solidFill>
                  <a:srgbClr val="FFFFFF"/>
                </a:solidFill>
                <a:latin typeface="Courier New"/>
              </a:rPr>
              <a:t>    azurerm = {</a:t>
            </a:r>
            <a:br/>
            <a:r>
              <a:rPr sz="1000">
                <a:solidFill>
                  <a:srgbClr val="FFFFFF"/>
                </a:solidFill>
                <a:latin typeface="Courier New"/>
              </a:rPr>
              <a:t>      source  = "hashicorp/azurerm"</a:t>
            </a:r>
            <a:br/>
            <a:r>
              <a:rPr sz="1000">
                <a:solidFill>
                  <a:srgbClr val="FFFFFF"/>
                </a:solidFill>
                <a:latin typeface="Courier New"/>
              </a:rPr>
              <a:t>      version = "=5.0.0"</a:t>
            </a:r>
            <a:br/>
            <a:r>
              <a:rPr sz="1000">
                <a:solidFill>
                  <a:srgbClr val="FFFFFF"/>
                </a:solidFill>
                <a:latin typeface="Courier New"/>
              </a:rPr>
              <a:t>    }</a:t>
            </a:r>
            <a:br/>
            <a:r>
              <a:rPr sz="1000">
                <a:solidFill>
                  <a:srgbClr val="FFFFFF"/>
                </a:solidFill>
                <a:latin typeface="Courier New"/>
              </a:rPr>
              <a:t>  }</a:t>
            </a:r>
            <a:br/>
            <a:r>
              <a:rPr sz="1000">
                <a:solidFill>
                  <a:srgbClr val="FFFFFF"/>
                </a:solidFill>
                <a:latin typeface="Courier New"/>
              </a:rPr>
              <a:t>}</a:t>
            </a:r>
            <a:br/>
            <a:br/>
            <a:r>
              <a:rPr sz="1000">
                <a:solidFill>
                  <a:srgbClr val="FFFFFF"/>
                </a:solidFill>
                <a:latin typeface="Courier New"/>
              </a:rPr>
              <a:t>provider "azurerm" {</a:t>
            </a:r>
            <a:br/>
            <a:r>
              <a:rPr sz="1000">
                <a:solidFill>
                  <a:srgbClr val="FFFFFF"/>
                </a:solidFill>
                <a:latin typeface="Courier New"/>
              </a:rPr>
              <a:t>  features {}</a:t>
            </a:r>
            <a:br/>
            <a:r>
              <a:rPr sz="1000">
                <a:solidFill>
                  <a:srgbClr val="FFFFFF"/>
                </a:solidFill>
                <a:latin typeface="Courier New"/>
              </a:rPr>
              <a:t>}</a:t>
            </a:r>
          </a:p>
        </p:txBody>
      </p:sp>
      <p:sp>
        <p:nvSpPr>
          <p:cNvPr id="10" name="Rounded Rectangle 9"/>
          <p:cNvSpPr/>
          <p:nvPr/>
        </p:nvSpPr>
        <p:spPr>
          <a:xfrm>
            <a:off x="5897880" y="1325880"/>
            <a:ext cx="507492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5897880" y="1325880"/>
            <a:ext cx="64008" cy="1234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099048" y="1463039"/>
            <a:ext cx="47091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required_providers</a:t>
            </a:r>
          </a:p>
        </p:txBody>
      </p:sp>
      <p:sp>
        <p:nvSpPr>
          <p:cNvPr id="13" name="TextBox 12"/>
          <p:cNvSpPr txBox="1"/>
          <p:nvPr/>
        </p:nvSpPr>
        <p:spPr>
          <a:xfrm>
            <a:off x="6099048" y="1920240"/>
            <a:ext cx="469087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Declares the provider source and version constraint.</a:t>
            </a:r>
          </a:p>
        </p:txBody>
      </p:sp>
      <p:sp>
        <p:nvSpPr>
          <p:cNvPr id="14" name="Rounded Rectangle 13"/>
          <p:cNvSpPr/>
          <p:nvPr/>
        </p:nvSpPr>
        <p:spPr>
          <a:xfrm>
            <a:off x="5897880" y="2743200"/>
            <a:ext cx="507492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5897880" y="2743200"/>
            <a:ext cx="64008" cy="123444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099048" y="2880360"/>
            <a:ext cx="47091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provider "azurerm"</a:t>
            </a:r>
          </a:p>
        </p:txBody>
      </p:sp>
      <p:sp>
        <p:nvSpPr>
          <p:cNvPr id="17" name="TextBox 16"/>
          <p:cNvSpPr txBox="1"/>
          <p:nvPr/>
        </p:nvSpPr>
        <p:spPr>
          <a:xfrm>
            <a:off x="6099048" y="3337560"/>
            <a:ext cx="469087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Configures the Azure Resource Manager provider. The features block is required by the provider.</a:t>
            </a:r>
          </a:p>
        </p:txBody>
      </p:sp>
      <p:sp>
        <p:nvSpPr>
          <p:cNvPr id="18" name="Rounded Rectangle 17"/>
          <p:cNvSpPr/>
          <p:nvPr/>
        </p:nvSpPr>
        <p:spPr>
          <a:xfrm>
            <a:off x="5897880" y="4160520"/>
            <a:ext cx="507492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5897880" y="4160520"/>
            <a:ext cx="64008" cy="123444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099048" y="4297680"/>
            <a:ext cx="47091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Why pin versions?</a:t>
            </a:r>
          </a:p>
        </p:txBody>
      </p:sp>
      <p:sp>
        <p:nvSpPr>
          <p:cNvPr id="21" name="TextBox 20"/>
          <p:cNvSpPr txBox="1"/>
          <p:nvPr/>
        </p:nvSpPr>
        <p:spPr>
          <a:xfrm>
            <a:off x="6099048" y="4754880"/>
            <a:ext cx="469087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Prevents unexpected provider changes during training, CI/CD or production deployments.</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Input Variables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Variables make the same Terraform configuration adaptable across projects and environments.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HCL</a:t>
            </a:r>
          </a:p>
        </p:txBody>
      </p:sp>
      <p:sp>
        <p:nvSpPr>
          <p:cNvPr id="7" name="Rounded Rectangle 6"/>
          <p:cNvSpPr/>
          <p:nvPr/>
        </p:nvSpPr>
        <p:spPr>
          <a:xfrm>
            <a:off x="640080" y="1234440"/>
            <a:ext cx="5486400" cy="48006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04671" y="1325880"/>
            <a:ext cx="516636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variables.tf</a:t>
            </a:r>
          </a:p>
        </p:txBody>
      </p:sp>
      <p:sp>
        <p:nvSpPr>
          <p:cNvPr id="9" name="TextBox 8"/>
          <p:cNvSpPr txBox="1"/>
          <p:nvPr/>
        </p:nvSpPr>
        <p:spPr>
          <a:xfrm>
            <a:off x="804671" y="1618488"/>
            <a:ext cx="5166360" cy="4279392"/>
          </a:xfrm>
          <a:prstGeom prst="rect">
            <a:avLst/>
          </a:prstGeom>
          <a:noFill/>
        </p:spPr>
        <p:txBody>
          <a:bodyPr wrap="none" lIns="38100" rIns="38100" tIns="25400" bIns="25400">
            <a:spAutoFit/>
          </a:bodyPr>
          <a:lstStyle/>
          <a:p>
            <a:pPr>
              <a:defRPr sz="1100">
                <a:solidFill>
                  <a:srgbClr val="FFFFFF"/>
                </a:solidFill>
                <a:latin typeface="Consolas"/>
              </a:defRPr>
            </a:pPr>
            <a:r>
              <a:rPr sz="1000">
                <a:solidFill>
                  <a:srgbClr val="FFFFFF"/>
                </a:solidFill>
                <a:latin typeface="Courier New"/>
              </a:rPr>
              <a:t>variable "project_name" {</a:t>
            </a:r>
            <a:br/>
            <a:r>
              <a:rPr sz="1000">
                <a:solidFill>
                  <a:srgbClr val="FFFFFF"/>
                </a:solidFill>
                <a:latin typeface="Courier New"/>
              </a:rPr>
              <a:t>  type    = string</a:t>
            </a:r>
            <a:br/>
            <a:r>
              <a:rPr sz="1000">
                <a:solidFill>
                  <a:srgbClr val="FFFFFF"/>
                </a:solidFill>
                <a:latin typeface="Courier New"/>
              </a:rPr>
              <a:t>  default = "kyn-project"</a:t>
            </a:r>
            <a:br/>
            <a:r>
              <a:rPr sz="1000">
                <a:solidFill>
                  <a:srgbClr val="FFFFFF"/>
                </a:solidFill>
                <a:latin typeface="Courier New"/>
              </a:rPr>
              <a:t>}</a:t>
            </a:r>
            <a:br/>
            <a:br/>
            <a:r>
              <a:rPr sz="1000">
                <a:solidFill>
                  <a:srgbClr val="FFFFFF"/>
                </a:solidFill>
                <a:latin typeface="Courier New"/>
              </a:rPr>
              <a:t>variable "environment" {</a:t>
            </a:r>
            <a:br/>
            <a:r>
              <a:rPr sz="1000">
                <a:solidFill>
                  <a:srgbClr val="FFFFFF"/>
                </a:solidFill>
                <a:latin typeface="Courier New"/>
              </a:rPr>
              <a:t>  type    = string</a:t>
            </a:r>
            <a:br/>
            <a:r>
              <a:rPr sz="1000">
                <a:solidFill>
                  <a:srgbClr val="FFFFFF"/>
                </a:solidFill>
                <a:latin typeface="Courier New"/>
              </a:rPr>
              <a:t>  default = "dev"</a:t>
            </a:r>
            <a:br/>
            <a:r>
              <a:rPr sz="1000">
                <a:solidFill>
                  <a:srgbClr val="FFFFFF"/>
                </a:solidFill>
                <a:latin typeface="Courier New"/>
              </a:rPr>
              <a:t>}</a:t>
            </a:r>
            <a:br/>
            <a:br/>
            <a:r>
              <a:rPr sz="1000">
                <a:solidFill>
                  <a:srgbClr val="FFFFFF"/>
                </a:solidFill>
                <a:latin typeface="Courier New"/>
              </a:rPr>
              <a:t>variable "resource_group_location" {</a:t>
            </a:r>
            <a:br/>
            <a:r>
              <a:rPr sz="1000">
                <a:solidFill>
                  <a:srgbClr val="FFFFFF"/>
                </a:solidFill>
                <a:latin typeface="Courier New"/>
              </a:rPr>
              <a:t>  type    = string</a:t>
            </a:r>
            <a:br/>
            <a:r>
              <a:rPr sz="1000">
                <a:solidFill>
                  <a:srgbClr val="FFFFFF"/>
                </a:solidFill>
                <a:latin typeface="Courier New"/>
              </a:rPr>
              <a:t>  default = "eastus"</a:t>
            </a:r>
            <a:br/>
            <a:r>
              <a:rPr sz="1000">
                <a:solidFill>
                  <a:srgbClr val="FFFFFF"/>
                </a:solidFill>
                <a:latin typeface="Courier New"/>
              </a:rPr>
              <a:t>}</a:t>
            </a:r>
            <a:br/>
            <a:br/>
            <a:r>
              <a:rPr sz="1000">
                <a:solidFill>
                  <a:srgbClr val="FFFFFF"/>
                </a:solidFill>
                <a:latin typeface="Courier New"/>
              </a:rPr>
              <a:t>variable "vnet_address_space" {</a:t>
            </a:r>
            <a:br/>
            <a:r>
              <a:rPr sz="1000">
                <a:solidFill>
                  <a:srgbClr val="FFFFFF"/>
                </a:solidFill>
                <a:latin typeface="Courier New"/>
              </a:rPr>
              <a:t>  type    = list(string)</a:t>
            </a:r>
            <a:br/>
            <a:r>
              <a:rPr sz="1000">
                <a:solidFill>
                  <a:srgbClr val="FFFFFF"/>
                </a:solidFill>
                <a:latin typeface="Courier New"/>
              </a:rPr>
              <a:t>  default = ["10.0.0.0/16"]</a:t>
            </a:r>
            <a:br/>
            <a:r>
              <a:rPr sz="1000">
                <a:solidFill>
                  <a:srgbClr val="FFFFFF"/>
                </a:solidFill>
                <a:latin typeface="Courier New"/>
              </a:rPr>
              <a:t>}</a:t>
            </a:r>
          </a:p>
        </p:txBody>
      </p:sp>
      <p:sp>
        <p:nvSpPr>
          <p:cNvPr id="10" name="Rounded Rectangle 9"/>
          <p:cNvSpPr/>
          <p:nvPr/>
        </p:nvSpPr>
        <p:spPr>
          <a:xfrm>
            <a:off x="6446520" y="1280160"/>
            <a:ext cx="480060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6446520" y="128016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647688" y="1417319"/>
            <a:ext cx="44348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string</a:t>
            </a:r>
          </a:p>
        </p:txBody>
      </p:sp>
      <p:sp>
        <p:nvSpPr>
          <p:cNvPr id="13" name="TextBox 12"/>
          <p:cNvSpPr txBox="1"/>
          <p:nvPr/>
        </p:nvSpPr>
        <p:spPr>
          <a:xfrm>
            <a:off x="6647688" y="1874519"/>
            <a:ext cx="441655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project_name, environment, location</a:t>
            </a:r>
          </a:p>
        </p:txBody>
      </p:sp>
      <p:sp>
        <p:nvSpPr>
          <p:cNvPr id="14" name="Rounded Rectangle 13"/>
          <p:cNvSpPr/>
          <p:nvPr/>
        </p:nvSpPr>
        <p:spPr>
          <a:xfrm>
            <a:off x="6446520" y="2606040"/>
            <a:ext cx="480060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6446520" y="2606040"/>
            <a:ext cx="64008" cy="114300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647688" y="2743200"/>
            <a:ext cx="44348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list(string)</a:t>
            </a:r>
          </a:p>
        </p:txBody>
      </p:sp>
      <p:sp>
        <p:nvSpPr>
          <p:cNvPr id="17" name="TextBox 16"/>
          <p:cNvSpPr txBox="1"/>
          <p:nvPr/>
        </p:nvSpPr>
        <p:spPr>
          <a:xfrm>
            <a:off x="6647688" y="3200400"/>
            <a:ext cx="441655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VNet and subnet address spaces</a:t>
            </a:r>
          </a:p>
        </p:txBody>
      </p:sp>
      <p:sp>
        <p:nvSpPr>
          <p:cNvPr id="18" name="Rounded Rectangle 17"/>
          <p:cNvSpPr/>
          <p:nvPr/>
        </p:nvSpPr>
        <p:spPr>
          <a:xfrm>
            <a:off x="6446520" y="3931920"/>
            <a:ext cx="480060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446520" y="3931920"/>
            <a:ext cx="64008" cy="114300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647688" y="4069080"/>
            <a:ext cx="44348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terraform.tfvars</a:t>
            </a:r>
          </a:p>
        </p:txBody>
      </p:sp>
      <p:sp>
        <p:nvSpPr>
          <p:cNvPr id="21" name="TextBox 20"/>
          <p:cNvSpPr txBox="1"/>
          <p:nvPr/>
        </p:nvSpPr>
        <p:spPr>
          <a:xfrm>
            <a:off x="6647688" y="4526280"/>
            <a:ext cx="441655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Override defaults without changing the module code.</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Locals &amp; Naming Standards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Compute a consistent prefix once and reuse it across every Azure resource.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HCL</a:t>
            </a:r>
          </a:p>
        </p:txBody>
      </p:sp>
      <p:sp>
        <p:nvSpPr>
          <p:cNvPr id="7" name="Rounded Rectangle 6"/>
          <p:cNvSpPr/>
          <p:nvPr/>
        </p:nvSpPr>
        <p:spPr>
          <a:xfrm>
            <a:off x="685800" y="1325880"/>
            <a:ext cx="5212080" cy="283464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417320"/>
            <a:ext cx="489204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locals.tf</a:t>
            </a:r>
          </a:p>
        </p:txBody>
      </p:sp>
      <p:sp>
        <p:nvSpPr>
          <p:cNvPr id="9" name="TextBox 8"/>
          <p:cNvSpPr txBox="1"/>
          <p:nvPr/>
        </p:nvSpPr>
        <p:spPr>
          <a:xfrm>
            <a:off x="850392" y="1709928"/>
            <a:ext cx="4892040" cy="2313432"/>
          </a:xfrm>
          <a:prstGeom prst="rect">
            <a:avLst/>
          </a:prstGeom>
          <a:noFill/>
        </p:spPr>
        <p:txBody>
          <a:bodyPr wrap="none" lIns="38100" rIns="38100" tIns="25400" bIns="25400">
            <a:spAutoFit/>
          </a:bodyPr>
          <a:lstStyle/>
          <a:p>
            <a:pPr>
              <a:defRPr sz="1300">
                <a:solidFill>
                  <a:srgbClr val="FFFFFF"/>
                </a:solidFill>
                <a:latin typeface="Consolas"/>
              </a:defRPr>
            </a:pPr>
            <a:r>
              <a:rPr sz="1000">
                <a:solidFill>
                  <a:srgbClr val="FFFFFF"/>
                </a:solidFill>
                <a:latin typeface="Courier New"/>
              </a:rPr>
              <a:t>locals {</a:t>
            </a:r>
            <a:br/>
            <a:r>
              <a:rPr sz="1000">
                <a:solidFill>
                  <a:srgbClr val="FFFFFF"/>
                </a:solidFill>
                <a:latin typeface="Courier New"/>
              </a:rPr>
              <a:t>  name_prefix = "${var.project_name}-${var.environment}"</a:t>
            </a:r>
            <a:br/>
            <a:br/>
            <a:r>
              <a:rPr sz="1000">
                <a:solidFill>
                  <a:srgbClr val="FFFFFF"/>
                </a:solidFill>
                <a:latin typeface="Courier New"/>
              </a:rPr>
              <a:t>  project_tags = {</a:t>
            </a:r>
            <a:br/>
            <a:r>
              <a:rPr sz="1000">
                <a:solidFill>
                  <a:srgbClr val="FFFFFF"/>
                </a:solidFill>
                <a:latin typeface="Courier New"/>
              </a:rPr>
              <a:t>    Project     = var.project_name</a:t>
            </a:r>
            <a:br/>
            <a:r>
              <a:rPr sz="1000">
                <a:solidFill>
                  <a:srgbClr val="FFFFFF"/>
                </a:solidFill>
                <a:latin typeface="Courier New"/>
              </a:rPr>
              <a:t>    Environment = var.environment</a:t>
            </a:r>
            <a:br/>
            <a:r>
              <a:rPr sz="1000">
                <a:solidFill>
                  <a:srgbClr val="FFFFFF"/>
                </a:solidFill>
                <a:latin typeface="Courier New"/>
              </a:rPr>
              <a:t>    Managedby   = "Terraform"</a:t>
            </a:r>
            <a:br/>
            <a:r>
              <a:rPr sz="1000">
                <a:solidFill>
                  <a:srgbClr val="FFFFFF"/>
                </a:solidFill>
                <a:latin typeface="Courier New"/>
              </a:rPr>
              <a:t>  }</a:t>
            </a:r>
            <a:br/>
            <a:r>
              <a:rPr sz="1000">
                <a:solidFill>
                  <a:srgbClr val="FFFFFF"/>
                </a:solidFill>
                <a:latin typeface="Courier New"/>
              </a:rPr>
              <a:t>}</a:t>
            </a:r>
          </a:p>
        </p:txBody>
      </p:sp>
      <p:sp>
        <p:nvSpPr>
          <p:cNvPr id="10" name="Rounded Rectangle 9"/>
          <p:cNvSpPr/>
          <p:nvPr/>
        </p:nvSpPr>
        <p:spPr>
          <a:xfrm>
            <a:off x="6400800" y="1463040"/>
            <a:ext cx="150876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TextBox 10"/>
          <p:cNvSpPr txBox="1"/>
          <p:nvPr/>
        </p:nvSpPr>
        <p:spPr>
          <a:xfrm>
            <a:off x="6400800" y="1481328"/>
            <a:ext cx="15087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kyn-project</a:t>
            </a:r>
          </a:p>
        </p:txBody>
      </p:sp>
      <p:sp>
        <p:nvSpPr>
          <p:cNvPr id="12" name="Rounded Rectangle 11"/>
          <p:cNvSpPr/>
          <p:nvPr/>
        </p:nvSpPr>
        <p:spPr>
          <a:xfrm>
            <a:off x="8046720" y="1463040"/>
            <a:ext cx="91440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3" name="TextBox 12"/>
          <p:cNvSpPr txBox="1"/>
          <p:nvPr/>
        </p:nvSpPr>
        <p:spPr>
          <a:xfrm>
            <a:off x="8046720" y="1481328"/>
            <a:ext cx="91440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dev</a:t>
            </a:r>
          </a:p>
        </p:txBody>
      </p:sp>
      <p:sp>
        <p:nvSpPr>
          <p:cNvPr id="14" name="TextBox 13"/>
          <p:cNvSpPr txBox="1"/>
          <p:nvPr/>
        </p:nvSpPr>
        <p:spPr>
          <a:xfrm>
            <a:off x="9098280" y="1481328"/>
            <a:ext cx="1463040" cy="274320"/>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 prefix</a:t>
            </a:r>
          </a:p>
        </p:txBody>
      </p:sp>
      <p:sp>
        <p:nvSpPr>
          <p:cNvPr id="15" name="Rounded Rectangle 14"/>
          <p:cNvSpPr/>
          <p:nvPr/>
        </p:nvSpPr>
        <p:spPr>
          <a:xfrm>
            <a:off x="6400800" y="2057400"/>
            <a:ext cx="3474720" cy="310896"/>
          </a:xfrm>
          <a:prstGeom prst="round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400800" y="2075688"/>
            <a:ext cx="347472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kyn-project-dev</a:t>
            </a:r>
          </a:p>
        </p:txBody>
      </p:sp>
      <p:sp>
        <p:nvSpPr>
          <p:cNvPr id="17" name="Rounded Rectangle 16"/>
          <p:cNvSpPr/>
          <p:nvPr/>
        </p:nvSpPr>
        <p:spPr>
          <a:xfrm>
            <a:off x="6217920" y="2880360"/>
            <a:ext cx="47548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8" name="Rectangle 17"/>
          <p:cNvSpPr/>
          <p:nvPr/>
        </p:nvSpPr>
        <p:spPr>
          <a:xfrm>
            <a:off x="6217920" y="288036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TextBox 18"/>
          <p:cNvSpPr txBox="1"/>
          <p:nvPr/>
        </p:nvSpPr>
        <p:spPr>
          <a:xfrm>
            <a:off x="6419088" y="3017520"/>
            <a:ext cx="43891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Benefits</a:t>
            </a:r>
          </a:p>
        </p:txBody>
      </p:sp>
      <p:sp>
        <p:nvSpPr>
          <p:cNvPr id="20" name="TextBox 19"/>
          <p:cNvSpPr txBox="1"/>
          <p:nvPr/>
        </p:nvSpPr>
        <p:spPr>
          <a:xfrm>
            <a:off x="6419088" y="3474720"/>
            <a:ext cx="43708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Avoid duplicated string expressions and keep resource names consistent.</a:t>
            </a:r>
          </a:p>
        </p:txBody>
      </p:sp>
      <p:sp>
        <p:nvSpPr>
          <p:cNvPr id="21" name="Rounded Rectangle 20"/>
          <p:cNvSpPr/>
          <p:nvPr/>
        </p:nvSpPr>
        <p:spPr>
          <a:xfrm>
            <a:off x="6217920" y="4206240"/>
            <a:ext cx="47548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2" name="Rectangle 21"/>
          <p:cNvSpPr/>
          <p:nvPr/>
        </p:nvSpPr>
        <p:spPr>
          <a:xfrm>
            <a:off x="6217920" y="4206240"/>
            <a:ext cx="64008" cy="114300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TextBox 22"/>
          <p:cNvSpPr txBox="1"/>
          <p:nvPr/>
        </p:nvSpPr>
        <p:spPr>
          <a:xfrm>
            <a:off x="6419088" y="4343400"/>
            <a:ext cx="43891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Tags</a:t>
            </a:r>
          </a:p>
        </p:txBody>
      </p:sp>
      <p:sp>
        <p:nvSpPr>
          <p:cNvPr id="24" name="TextBox 23"/>
          <p:cNvSpPr txBox="1"/>
          <p:nvPr/>
        </p:nvSpPr>
        <p:spPr>
          <a:xfrm>
            <a:off x="6419088" y="4800600"/>
            <a:ext cx="43708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Tags help cost allocation, inventory, governance and operations.</a:t>
            </a:r>
          </a:p>
        </p:txBody>
      </p:sp>
      <p:sp>
        <p:nvSpPr>
          <p:cNvPr id="25" name="TextBox 24"/>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Resource Group → VNet → Subnet</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Azure networking is layered: the subnet belongs to the VNet and resources attach to the subnet.</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NETWORKING</a:t>
            </a:r>
          </a:p>
        </p:txBody>
      </p:sp>
      <p:sp>
        <p:nvSpPr>
          <p:cNvPr id="7" name="Rounded Rectangle 6"/>
          <p:cNvSpPr/>
          <p:nvPr/>
        </p:nvSpPr>
        <p:spPr>
          <a:xfrm>
            <a:off x="731520" y="2103120"/>
            <a:ext cx="2286000" cy="91440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804672" y="2176272"/>
            <a:ext cx="2139696"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Resource Group</a:t>
            </a:r>
            <a:br/>
            <a:r>
              <a:rPr sz="1100">
                <a:solidFill>
                  <a:srgbClr val="232A37"/>
                </a:solidFill>
                <a:latin typeface="Arial"/>
              </a:rPr>
              <a:t>kyn-project-dev-rg-gopal</a:t>
            </a:r>
          </a:p>
        </p:txBody>
      </p:sp>
      <p:sp>
        <p:nvSpPr>
          <p:cNvPr id="9" name="Rounded Rectangle 8"/>
          <p:cNvSpPr/>
          <p:nvPr/>
        </p:nvSpPr>
        <p:spPr>
          <a:xfrm>
            <a:off x="3749039" y="2103120"/>
            <a:ext cx="2286000" cy="91440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3822191" y="2176272"/>
            <a:ext cx="2139696"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VNet</a:t>
            </a:r>
            <a:br/>
            <a:r>
              <a:rPr sz="1100">
                <a:solidFill>
                  <a:srgbClr val="232A37"/>
                </a:solidFill>
                <a:latin typeface="Arial"/>
              </a:rPr>
              <a:t>10.0.0.0/16</a:t>
            </a:r>
          </a:p>
        </p:txBody>
      </p:sp>
      <p:sp>
        <p:nvSpPr>
          <p:cNvPr id="11" name="Rounded Rectangle 10"/>
          <p:cNvSpPr/>
          <p:nvPr/>
        </p:nvSpPr>
        <p:spPr>
          <a:xfrm>
            <a:off x="6766560" y="2103120"/>
            <a:ext cx="2286000" cy="91440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839712" y="2176272"/>
            <a:ext cx="2139696"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Web Subnet</a:t>
            </a:r>
            <a:br/>
            <a:r>
              <a:rPr sz="1100">
                <a:solidFill>
                  <a:srgbClr val="232A37"/>
                </a:solidFill>
                <a:latin typeface="Arial"/>
              </a:rPr>
              <a:t>10.0.1.0/24</a:t>
            </a:r>
          </a:p>
        </p:txBody>
      </p:sp>
      <p:sp>
        <p:nvSpPr>
          <p:cNvPr id="13" name="Rounded Rectangle 12"/>
          <p:cNvSpPr/>
          <p:nvPr/>
        </p:nvSpPr>
        <p:spPr>
          <a:xfrm>
            <a:off x="9784080" y="2103120"/>
            <a:ext cx="1554480" cy="91440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9857232" y="2176272"/>
            <a:ext cx="1408176"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NICs</a:t>
            </a:r>
            <a:br/>
            <a:r>
              <a:rPr sz="1100">
                <a:solidFill>
                  <a:srgbClr val="232A37"/>
                </a:solidFill>
                <a:latin typeface="Arial"/>
              </a:rPr>
              <a:t>Private IP</a:t>
            </a:r>
          </a:p>
        </p:txBody>
      </p:sp>
      <p:cxnSp>
        <p:nvCxnSpPr>
          <p:cNvPr id="15" name="Connector 14"/>
          <p:cNvCxnSpPr/>
          <p:nvPr/>
        </p:nvCxnSpPr>
        <p:spPr>
          <a:xfrm>
            <a:off x="3017520" y="2560320"/>
            <a:ext cx="731519" cy="0"/>
          </a:xfrm>
          <a:prstGeom prst="line">
            <a:avLst/>
          </a:prstGeom>
          <a:ln w="38100">
            <a:solidFill>
              <a:srgbClr val="2D69D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35040" y="2560320"/>
            <a:ext cx="731520" cy="0"/>
          </a:xfrm>
          <a:prstGeom prst="line">
            <a:avLst/>
          </a:prstGeom>
          <a:ln w="38100">
            <a:solidFill>
              <a:srgbClr val="2AA56E"/>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052560" y="2560320"/>
            <a:ext cx="731520" cy="0"/>
          </a:xfrm>
          <a:prstGeom prst="line">
            <a:avLst/>
          </a:prstGeom>
          <a:ln w="38100">
            <a:solidFill>
              <a:srgbClr val="2DBECD"/>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520" y="3794760"/>
            <a:ext cx="329184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31520" y="3794760"/>
            <a:ext cx="64008" cy="1234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932688" y="3931920"/>
            <a:ext cx="292608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CIDR /16</a:t>
            </a:r>
          </a:p>
        </p:txBody>
      </p:sp>
      <p:sp>
        <p:nvSpPr>
          <p:cNvPr id="21" name="TextBox 20"/>
          <p:cNvSpPr txBox="1"/>
          <p:nvPr/>
        </p:nvSpPr>
        <p:spPr>
          <a:xfrm>
            <a:off x="932688" y="4389120"/>
            <a:ext cx="290779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65,536 addresses conceptually; Azure reserves some addresses in each subnet.</a:t>
            </a:r>
          </a:p>
        </p:txBody>
      </p:sp>
      <p:sp>
        <p:nvSpPr>
          <p:cNvPr id="22" name="Rounded Rectangle 21"/>
          <p:cNvSpPr/>
          <p:nvPr/>
        </p:nvSpPr>
        <p:spPr>
          <a:xfrm>
            <a:off x="4434840" y="3794760"/>
            <a:ext cx="329184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Rectangle 22"/>
          <p:cNvSpPr/>
          <p:nvPr/>
        </p:nvSpPr>
        <p:spPr>
          <a:xfrm>
            <a:off x="4434840" y="3794760"/>
            <a:ext cx="64008" cy="123444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TextBox 23"/>
          <p:cNvSpPr txBox="1"/>
          <p:nvPr/>
        </p:nvSpPr>
        <p:spPr>
          <a:xfrm>
            <a:off x="4636007" y="3931920"/>
            <a:ext cx="292608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CIDR /24</a:t>
            </a:r>
          </a:p>
        </p:txBody>
      </p:sp>
      <p:sp>
        <p:nvSpPr>
          <p:cNvPr id="25" name="TextBox 24"/>
          <p:cNvSpPr txBox="1"/>
          <p:nvPr/>
        </p:nvSpPr>
        <p:spPr>
          <a:xfrm>
            <a:off x="4636007" y="4389120"/>
            <a:ext cx="290779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256 addresses conceptually; practical usable count is lower due to Azure reservations.</a:t>
            </a:r>
          </a:p>
        </p:txBody>
      </p:sp>
      <p:sp>
        <p:nvSpPr>
          <p:cNvPr id="26" name="Rounded Rectangle 25"/>
          <p:cNvSpPr/>
          <p:nvPr/>
        </p:nvSpPr>
        <p:spPr>
          <a:xfrm>
            <a:off x="8138160" y="3794760"/>
            <a:ext cx="329184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7" name="Rectangle 26"/>
          <p:cNvSpPr/>
          <p:nvPr/>
        </p:nvSpPr>
        <p:spPr>
          <a:xfrm>
            <a:off x="8138160" y="3794760"/>
            <a:ext cx="64008" cy="123444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8" name="TextBox 27"/>
          <p:cNvSpPr txBox="1"/>
          <p:nvPr/>
        </p:nvSpPr>
        <p:spPr>
          <a:xfrm>
            <a:off x="8339328" y="3931920"/>
            <a:ext cx="292608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Dependency graph</a:t>
            </a:r>
          </a:p>
        </p:txBody>
      </p:sp>
      <p:sp>
        <p:nvSpPr>
          <p:cNvPr id="29" name="TextBox 28"/>
          <p:cNvSpPr txBox="1"/>
          <p:nvPr/>
        </p:nvSpPr>
        <p:spPr>
          <a:xfrm>
            <a:off x="8339328" y="4389120"/>
            <a:ext cx="290779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Terraform builds VNet before subnet, subnet before NIC and NIC before VM.</a:t>
            </a:r>
          </a:p>
        </p:txBody>
      </p:sp>
      <p:sp>
        <p:nvSpPr>
          <p:cNvPr id="30" name="TextBox 29"/>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Network Security Group &amp; for_each</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local map drives three inbound rules without repeating resource blocks.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SECURITY</a:t>
            </a:r>
          </a:p>
        </p:txBody>
      </p:sp>
      <p:sp>
        <p:nvSpPr>
          <p:cNvPr id="7" name="Rounded Rectangle 6"/>
          <p:cNvSpPr/>
          <p:nvPr/>
        </p:nvSpPr>
        <p:spPr>
          <a:xfrm>
            <a:off x="502920" y="1234440"/>
            <a:ext cx="6492240" cy="498348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667512" y="1325880"/>
            <a:ext cx="61722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nsg.tf</a:t>
            </a:r>
          </a:p>
        </p:txBody>
      </p:sp>
      <p:sp>
        <p:nvSpPr>
          <p:cNvPr id="9" name="TextBox 8"/>
          <p:cNvSpPr txBox="1"/>
          <p:nvPr/>
        </p:nvSpPr>
        <p:spPr>
          <a:xfrm>
            <a:off x="667512" y="1618488"/>
            <a:ext cx="6172200" cy="4462272"/>
          </a:xfrm>
          <a:prstGeom prst="rect">
            <a:avLst/>
          </a:prstGeom>
          <a:noFill/>
        </p:spPr>
        <p:txBody>
          <a:bodyPr wrap="none" lIns="38100" rIns="38100" tIns="25400" bIns="25400">
            <a:spAutoFit/>
          </a:bodyPr>
          <a:lstStyle/>
          <a:p>
            <a:pPr>
              <a:defRPr sz="900">
                <a:solidFill>
                  <a:srgbClr val="FFFFFF"/>
                </a:solidFill>
                <a:latin typeface="Consolas"/>
              </a:defRPr>
            </a:pPr>
            <a:r>
              <a:rPr sz="1000">
                <a:solidFill>
                  <a:srgbClr val="FFFFFF"/>
                </a:solidFill>
                <a:latin typeface="Courier New"/>
              </a:rPr>
              <a:t>locals {</a:t>
            </a:r>
            <a:br/>
            <a:r>
              <a:rPr sz="1000">
                <a:solidFill>
                  <a:srgbClr val="FFFFFF"/>
                </a:solidFill>
                <a:latin typeface="Courier New"/>
              </a:rPr>
              <a:t>  web_nsg_rule = {</a:t>
            </a:r>
            <a:br/>
            <a:r>
              <a:rPr sz="1000">
                <a:solidFill>
                  <a:srgbClr val="FFFFFF"/>
                </a:solidFill>
                <a:latin typeface="Courier New"/>
              </a:rPr>
              <a:t>    "110" = "22"</a:t>
            </a:r>
            <a:br/>
            <a:r>
              <a:rPr sz="1000">
                <a:solidFill>
                  <a:srgbClr val="FFFFFF"/>
                </a:solidFill>
                <a:latin typeface="Courier New"/>
              </a:rPr>
              <a:t>    "120" = "80"</a:t>
            </a:r>
            <a:br/>
            <a:r>
              <a:rPr sz="1000">
                <a:solidFill>
                  <a:srgbClr val="FFFFFF"/>
                </a:solidFill>
                <a:latin typeface="Courier New"/>
              </a:rPr>
              <a:t>    "130" = "443"</a:t>
            </a:r>
            <a:br/>
            <a:r>
              <a:rPr sz="1000">
                <a:solidFill>
                  <a:srgbClr val="FFFFFF"/>
                </a:solidFill>
                <a:latin typeface="Courier New"/>
              </a:rPr>
              <a:t>  }</a:t>
            </a:r>
            <a:br/>
            <a:r>
              <a:rPr sz="1000">
                <a:solidFill>
                  <a:srgbClr val="FFFFFF"/>
                </a:solidFill>
                <a:latin typeface="Courier New"/>
              </a:rPr>
              <a:t>}</a:t>
            </a:r>
            <a:br/>
            <a:br/>
            <a:r>
              <a:rPr sz="1000">
                <a:solidFill>
                  <a:srgbClr val="FFFFFF"/>
                </a:solidFill>
                <a:latin typeface="Courier New"/>
              </a:rPr>
              <a:t>resource "azurerm_network_security_rule" "web_nsg_rule" {</a:t>
            </a:r>
            <a:br/>
            <a:r>
              <a:rPr sz="1000">
                <a:solidFill>
                  <a:srgbClr val="FFFFFF"/>
                </a:solidFill>
                <a:latin typeface="Courier New"/>
              </a:rPr>
              <a:t>  for_each                  = local.web_nsg_rule</a:t>
            </a:r>
            <a:br/>
            <a:r>
              <a:rPr sz="1000">
                <a:solidFill>
                  <a:srgbClr val="FFFFFF"/>
                </a:solidFill>
                <a:latin typeface="Courier New"/>
              </a:rPr>
              <a:t>  name                      = "Rule_port_${each.value}"</a:t>
            </a:r>
            <a:br/>
            <a:r>
              <a:rPr sz="1000">
                <a:solidFill>
                  <a:srgbClr val="FFFFFF"/>
                </a:solidFill>
                <a:latin typeface="Courier New"/>
              </a:rPr>
              <a:t>  priority                  = each.key</a:t>
            </a:r>
            <a:br/>
            <a:r>
              <a:rPr sz="1000">
                <a:solidFill>
                  <a:srgbClr val="FFFFFF"/>
                </a:solidFill>
                <a:latin typeface="Courier New"/>
              </a:rPr>
              <a:t>  direction                 = "Inbound"</a:t>
            </a:r>
            <a:br/>
            <a:r>
              <a:rPr sz="1000">
                <a:solidFill>
                  <a:srgbClr val="FFFFFF"/>
                </a:solidFill>
                <a:latin typeface="Courier New"/>
              </a:rPr>
              <a:t>  access                    = "Allow"</a:t>
            </a:r>
            <a:br/>
            <a:r>
              <a:rPr sz="1000">
                <a:solidFill>
                  <a:srgbClr val="FFFFFF"/>
                </a:solidFill>
                <a:latin typeface="Courier New"/>
              </a:rPr>
              <a:t>  protocol                  = "Tcp"</a:t>
            </a:r>
            <a:br/>
            <a:r>
              <a:rPr sz="1000">
                <a:solidFill>
                  <a:srgbClr val="FFFFFF"/>
                </a:solidFill>
                <a:latin typeface="Courier New"/>
              </a:rPr>
              <a:t>  source_port_range         = "*"</a:t>
            </a:r>
            <a:br/>
            <a:r>
              <a:rPr sz="1000">
                <a:solidFill>
                  <a:srgbClr val="FFFFFF"/>
                </a:solidFill>
                <a:latin typeface="Courier New"/>
              </a:rPr>
              <a:t>  destination_port_range    = each.value</a:t>
            </a:r>
            <a:br/>
            <a:r>
              <a:rPr sz="1000">
                <a:solidFill>
                  <a:srgbClr val="FFFFFF"/>
                </a:solidFill>
                <a:latin typeface="Courier New"/>
              </a:rPr>
              <a:t>  source_address_prefix    = "*"</a:t>
            </a:r>
            <a:br/>
            <a:r>
              <a:rPr sz="1000">
                <a:solidFill>
                  <a:srgbClr val="FFFFFF"/>
                </a:solidFill>
                <a:latin typeface="Courier New"/>
              </a:rPr>
              <a:t>  destination_address_prefix = "*"</a:t>
            </a:r>
            <a:br/>
            <a:r>
              <a:rPr sz="1000">
                <a:solidFill>
                  <a:srgbClr val="FFFFFF"/>
                </a:solidFill>
                <a:latin typeface="Courier New"/>
              </a:rPr>
              <a:t>}</a:t>
            </a:r>
          </a:p>
        </p:txBody>
      </p:sp>
      <p:sp>
        <p:nvSpPr>
          <p:cNvPr id="10" name="Rounded Rectangle 9"/>
          <p:cNvSpPr/>
          <p:nvPr/>
        </p:nvSpPr>
        <p:spPr>
          <a:xfrm>
            <a:off x="7269480" y="1325880"/>
            <a:ext cx="42976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269480" y="132588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470648" y="1463039"/>
            <a:ext cx="39319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each.key</a:t>
            </a:r>
          </a:p>
        </p:txBody>
      </p:sp>
      <p:sp>
        <p:nvSpPr>
          <p:cNvPr id="13" name="TextBox 12"/>
          <p:cNvSpPr txBox="1"/>
          <p:nvPr/>
        </p:nvSpPr>
        <p:spPr>
          <a:xfrm>
            <a:off x="7470648" y="1920240"/>
            <a:ext cx="39136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110, 120, 130 → NSG priority</a:t>
            </a:r>
          </a:p>
        </p:txBody>
      </p:sp>
      <p:sp>
        <p:nvSpPr>
          <p:cNvPr id="14" name="Rounded Rectangle 13"/>
          <p:cNvSpPr/>
          <p:nvPr/>
        </p:nvSpPr>
        <p:spPr>
          <a:xfrm>
            <a:off x="7269480" y="2606040"/>
            <a:ext cx="42976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269480" y="260604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470648" y="2743200"/>
            <a:ext cx="39319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each.value</a:t>
            </a:r>
          </a:p>
        </p:txBody>
      </p:sp>
      <p:sp>
        <p:nvSpPr>
          <p:cNvPr id="17" name="TextBox 16"/>
          <p:cNvSpPr txBox="1"/>
          <p:nvPr/>
        </p:nvSpPr>
        <p:spPr>
          <a:xfrm>
            <a:off x="7470648" y="3200400"/>
            <a:ext cx="39136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22, 80, 443 → destination port</a:t>
            </a:r>
          </a:p>
        </p:txBody>
      </p:sp>
      <p:sp>
        <p:nvSpPr>
          <p:cNvPr id="18" name="Rounded Rectangle 17"/>
          <p:cNvSpPr/>
          <p:nvPr/>
        </p:nvSpPr>
        <p:spPr>
          <a:xfrm>
            <a:off x="7269480" y="3886200"/>
            <a:ext cx="42976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269480" y="3886200"/>
            <a:ext cx="64008" cy="109728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470648" y="4023360"/>
            <a:ext cx="39319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Security note</a:t>
            </a:r>
          </a:p>
        </p:txBody>
      </p:sp>
      <p:sp>
        <p:nvSpPr>
          <p:cNvPr id="21" name="TextBox 20"/>
          <p:cNvSpPr txBox="1"/>
          <p:nvPr/>
        </p:nvSpPr>
        <p:spPr>
          <a:xfrm>
            <a:off x="7470648" y="4480560"/>
            <a:ext cx="39136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For production, replace source "*" with trusted CIDRs, service tags or a controlled ingress path.</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Network Interface Card (NIC)</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Each VM receives a NIC connected to the web subnet and later associated with the LB backend pool.</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NETWORKING</a:t>
            </a:r>
          </a:p>
        </p:txBody>
      </p:sp>
      <p:sp>
        <p:nvSpPr>
          <p:cNvPr id="7" name="Rounded Rectangle 6"/>
          <p:cNvSpPr/>
          <p:nvPr/>
        </p:nvSpPr>
        <p:spPr>
          <a:xfrm>
            <a:off x="640080" y="1325880"/>
            <a:ext cx="5486400" cy="41148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04671" y="1417320"/>
            <a:ext cx="516636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nic.tf</a:t>
            </a:r>
          </a:p>
        </p:txBody>
      </p:sp>
      <p:sp>
        <p:nvSpPr>
          <p:cNvPr id="9" name="TextBox 8"/>
          <p:cNvSpPr txBox="1"/>
          <p:nvPr/>
        </p:nvSpPr>
        <p:spPr>
          <a:xfrm>
            <a:off x="804671" y="1709928"/>
            <a:ext cx="5166360" cy="3593592"/>
          </a:xfrm>
          <a:prstGeom prst="rect">
            <a:avLst/>
          </a:prstGeom>
          <a:noFill/>
        </p:spPr>
        <p:txBody>
          <a:bodyPr wrap="none" lIns="38100" rIns="38100" tIns="25400" bIns="25400">
            <a:spAutoFit/>
          </a:bodyPr>
          <a:lstStyle/>
          <a:p>
            <a:pPr>
              <a:defRPr sz="1100">
                <a:solidFill>
                  <a:srgbClr val="FFFFFF"/>
                </a:solidFill>
                <a:latin typeface="Consolas"/>
              </a:defRPr>
            </a:pPr>
            <a:r>
              <a:rPr sz="1000">
                <a:solidFill>
                  <a:srgbClr val="FFFFFF"/>
                </a:solidFill>
                <a:latin typeface="Courier New"/>
              </a:rPr>
              <a:t>resource "azurerm_network_interface" "web_nic" {</a:t>
            </a:r>
            <a:br/>
            <a:r>
              <a:rPr sz="1000">
                <a:solidFill>
                  <a:srgbClr val="FFFFFF"/>
                </a:solidFill>
                <a:latin typeface="Courier New"/>
              </a:rPr>
              <a:t>  for_each = var.instance</a:t>
            </a:r>
            <a:br/>
            <a:br/>
            <a:r>
              <a:rPr sz="1000">
                <a:solidFill>
                  <a:srgbClr val="FFFFFF"/>
                </a:solidFill>
                <a:latin typeface="Courier New"/>
              </a:rPr>
              <a:t>  name = "${local.name_prefix}-${each.key}-nic"</a:t>
            </a:r>
            <a:br/>
            <a:br/>
            <a:r>
              <a:rPr sz="1000">
                <a:solidFill>
                  <a:srgbClr val="FFFFFF"/>
                </a:solidFill>
                <a:latin typeface="Courier New"/>
              </a:rPr>
              <a:t>  ip_configuration {</a:t>
            </a:r>
            <a:br/>
            <a:r>
              <a:rPr sz="1000">
                <a:solidFill>
                  <a:srgbClr val="FFFFFF"/>
                </a:solidFill>
                <a:latin typeface="Courier New"/>
              </a:rPr>
              <a:t>    name                          = "internal"</a:t>
            </a:r>
            <a:br/>
            <a:r>
              <a:rPr sz="1000">
                <a:solidFill>
                  <a:srgbClr val="FFFFFF"/>
                </a:solidFill>
                <a:latin typeface="Courier New"/>
              </a:rPr>
              <a:t>    subnet_id                     = azurerm_subnet.web-subnet.id</a:t>
            </a:r>
            <a:br/>
            <a:r>
              <a:rPr sz="1000">
                <a:solidFill>
                  <a:srgbClr val="FFFFFF"/>
                </a:solidFill>
                <a:latin typeface="Courier New"/>
              </a:rPr>
              <a:t>    private_ip_address_allocation = "Dynamic"</a:t>
            </a:r>
            <a:br/>
            <a:r>
              <a:rPr sz="1000">
                <a:solidFill>
                  <a:srgbClr val="FFFFFF"/>
                </a:solidFill>
                <a:latin typeface="Courier New"/>
              </a:rPr>
              <a:t>  }</a:t>
            </a:r>
            <a:br/>
            <a:r>
              <a:rPr sz="1000">
                <a:solidFill>
                  <a:srgbClr val="FFFFFF"/>
                </a:solidFill>
                <a:latin typeface="Courier New"/>
              </a:rPr>
              <a:t>}</a:t>
            </a:r>
          </a:p>
        </p:txBody>
      </p:sp>
      <p:sp>
        <p:nvSpPr>
          <p:cNvPr id="10" name="Rounded Rectangle 9"/>
          <p:cNvSpPr/>
          <p:nvPr/>
        </p:nvSpPr>
        <p:spPr>
          <a:xfrm>
            <a:off x="6446520" y="1325880"/>
            <a:ext cx="47548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6446520" y="132588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647688" y="1463039"/>
            <a:ext cx="43891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for_each</a:t>
            </a:r>
          </a:p>
        </p:txBody>
      </p:sp>
      <p:sp>
        <p:nvSpPr>
          <p:cNvPr id="13" name="TextBox 12"/>
          <p:cNvSpPr txBox="1"/>
          <p:nvPr/>
        </p:nvSpPr>
        <p:spPr>
          <a:xfrm>
            <a:off x="6647688" y="1920240"/>
            <a:ext cx="43708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Creates one NIC per VM map entry.</a:t>
            </a:r>
          </a:p>
        </p:txBody>
      </p:sp>
      <p:sp>
        <p:nvSpPr>
          <p:cNvPr id="14" name="Rounded Rectangle 13"/>
          <p:cNvSpPr/>
          <p:nvPr/>
        </p:nvSpPr>
        <p:spPr>
          <a:xfrm>
            <a:off x="6446520" y="2606040"/>
            <a:ext cx="47548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6446520" y="260604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647688" y="2743200"/>
            <a:ext cx="43891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Dynamic private IP</a:t>
            </a:r>
          </a:p>
        </p:txBody>
      </p:sp>
      <p:sp>
        <p:nvSpPr>
          <p:cNvPr id="17" name="TextBox 16"/>
          <p:cNvSpPr txBox="1"/>
          <p:nvPr/>
        </p:nvSpPr>
        <p:spPr>
          <a:xfrm>
            <a:off x="6647688" y="3200400"/>
            <a:ext cx="43708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Azure allocates an address from 10.0.1.0/24.</a:t>
            </a:r>
          </a:p>
        </p:txBody>
      </p:sp>
      <p:sp>
        <p:nvSpPr>
          <p:cNvPr id="18" name="Rounded Rectangle 17"/>
          <p:cNvSpPr/>
          <p:nvPr/>
        </p:nvSpPr>
        <p:spPr>
          <a:xfrm>
            <a:off x="6446520" y="3886200"/>
            <a:ext cx="47548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446520" y="3886200"/>
            <a:ext cx="64008" cy="10972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647688" y="4023360"/>
            <a:ext cx="43891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LB integration</a:t>
            </a:r>
          </a:p>
        </p:txBody>
      </p:sp>
      <p:sp>
        <p:nvSpPr>
          <p:cNvPr id="21" name="TextBox 20"/>
          <p:cNvSpPr txBox="1"/>
          <p:nvPr/>
        </p:nvSpPr>
        <p:spPr>
          <a:xfrm>
            <a:off x="6647688" y="4480560"/>
            <a:ext cx="43708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The NIC's IP configuration is associated with the load balancer backend pool.</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Map of VM Instances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An object map lets you define multiple VMs with per-instance properties.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HCL</a:t>
            </a:r>
          </a:p>
        </p:txBody>
      </p:sp>
      <p:sp>
        <p:nvSpPr>
          <p:cNvPr id="7" name="Rounded Rectangle 6"/>
          <p:cNvSpPr/>
          <p:nvPr/>
        </p:nvSpPr>
        <p:spPr>
          <a:xfrm>
            <a:off x="594360" y="1188720"/>
            <a:ext cx="6537960" cy="507492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758952" y="1280160"/>
            <a:ext cx="621792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variables.tf</a:t>
            </a:r>
          </a:p>
        </p:txBody>
      </p:sp>
      <p:sp>
        <p:nvSpPr>
          <p:cNvPr id="9" name="TextBox 8"/>
          <p:cNvSpPr txBox="1"/>
          <p:nvPr/>
        </p:nvSpPr>
        <p:spPr>
          <a:xfrm>
            <a:off x="758952" y="1572768"/>
            <a:ext cx="6217920" cy="4553712"/>
          </a:xfrm>
          <a:prstGeom prst="rect">
            <a:avLst/>
          </a:prstGeom>
          <a:noFill/>
        </p:spPr>
        <p:txBody>
          <a:bodyPr wrap="none" lIns="38100" rIns="38100" tIns="25400" bIns="25400">
            <a:spAutoFit/>
          </a:bodyPr>
          <a:lstStyle/>
          <a:p>
            <a:pPr>
              <a:defRPr sz="900">
                <a:solidFill>
                  <a:srgbClr val="FFFFFF"/>
                </a:solidFill>
                <a:latin typeface="Consolas"/>
              </a:defRPr>
            </a:pPr>
            <a:r>
              <a:rPr sz="1000">
                <a:solidFill>
                  <a:srgbClr val="FFFFFF"/>
                </a:solidFill>
                <a:latin typeface="Courier New"/>
              </a:rPr>
              <a:t>variable "instance" {</a:t>
            </a:r>
            <a:br/>
            <a:r>
              <a:rPr sz="1000">
                <a:solidFill>
                  <a:srgbClr val="FFFFFF"/>
                </a:solidFill>
                <a:latin typeface="Courier New"/>
              </a:rPr>
              <a:t>  type = map(object({</a:t>
            </a:r>
            <a:br/>
            <a:r>
              <a:rPr sz="1000">
                <a:solidFill>
                  <a:srgbClr val="FFFFFF"/>
                </a:solidFill>
                <a:latin typeface="Courier New"/>
              </a:rPr>
              <a:t>    vm_size            = string</a:t>
            </a:r>
            <a:br/>
            <a:r>
              <a:rPr sz="1000">
                <a:solidFill>
                  <a:srgbClr val="FFFFFF"/>
                </a:solidFill>
                <a:latin typeface="Courier New"/>
              </a:rPr>
              <a:t>    availability_zone  = string</a:t>
            </a:r>
            <a:br/>
            <a:r>
              <a:rPr sz="1000">
                <a:solidFill>
                  <a:srgbClr val="FFFFFF"/>
                </a:solidFill>
                <a:latin typeface="Courier New"/>
              </a:rPr>
              <a:t>    subnet_id          = string</a:t>
            </a:r>
            <a:br/>
            <a:r>
              <a:rPr sz="1000">
                <a:solidFill>
                  <a:srgbClr val="FFFFFF"/>
                </a:solidFill>
                <a:latin typeface="Courier New"/>
              </a:rPr>
              <a:t>  }))</a:t>
            </a:r>
            <a:br/>
            <a:br/>
            <a:r>
              <a:rPr sz="1000">
                <a:solidFill>
                  <a:srgbClr val="FFFFFF"/>
                </a:solidFill>
                <a:latin typeface="Courier New"/>
              </a:rPr>
              <a:t>  default = {</a:t>
            </a:r>
            <a:br/>
            <a:r>
              <a:rPr sz="1000">
                <a:solidFill>
                  <a:srgbClr val="FFFFFF"/>
                </a:solidFill>
                <a:latin typeface="Courier New"/>
              </a:rPr>
              <a:t>    web1 = {</a:t>
            </a:r>
            <a:br/>
            <a:r>
              <a:rPr sz="1000">
                <a:solidFill>
                  <a:srgbClr val="FFFFFF"/>
                </a:solidFill>
                <a:latin typeface="Courier New"/>
              </a:rPr>
              <a:t>      vm_size           = "Standard_F2as_v7"</a:t>
            </a:r>
            <a:br/>
            <a:r>
              <a:rPr sz="1000">
                <a:solidFill>
                  <a:srgbClr val="FFFFFF"/>
                </a:solidFill>
                <a:latin typeface="Courier New"/>
              </a:rPr>
              <a:t>      availability_zone = "1"</a:t>
            </a:r>
            <a:br/>
            <a:r>
              <a:rPr sz="1000">
                <a:solidFill>
                  <a:srgbClr val="FFFFFF"/>
                </a:solidFill>
                <a:latin typeface="Courier New"/>
              </a:rPr>
              <a:t>      subnet_id         = "web"</a:t>
            </a:r>
            <a:br/>
            <a:r>
              <a:rPr sz="1000">
                <a:solidFill>
                  <a:srgbClr val="FFFFFF"/>
                </a:solidFill>
                <a:latin typeface="Courier New"/>
              </a:rPr>
              <a:t>    }</a:t>
            </a:r>
            <a:br/>
            <a:r>
              <a:rPr sz="1000">
                <a:solidFill>
                  <a:srgbClr val="FFFFFF"/>
                </a:solidFill>
                <a:latin typeface="Courier New"/>
              </a:rPr>
              <a:t>    web2 = {</a:t>
            </a:r>
            <a:br/>
            <a:r>
              <a:rPr sz="1000">
                <a:solidFill>
                  <a:srgbClr val="FFFFFF"/>
                </a:solidFill>
                <a:latin typeface="Courier New"/>
              </a:rPr>
              <a:t>      vm_size           = "Standard_D2alds_v7"</a:t>
            </a:r>
            <a:br/>
            <a:r>
              <a:rPr sz="1000">
                <a:solidFill>
                  <a:srgbClr val="FFFFFF"/>
                </a:solidFill>
                <a:latin typeface="Courier New"/>
              </a:rPr>
              <a:t>      availability_zone = "2"</a:t>
            </a:r>
            <a:br/>
            <a:r>
              <a:rPr sz="1000">
                <a:solidFill>
                  <a:srgbClr val="FFFFFF"/>
                </a:solidFill>
                <a:latin typeface="Courier New"/>
              </a:rPr>
              <a:t>      subnet_id         = "web"</a:t>
            </a:r>
            <a:br/>
            <a:r>
              <a:rPr sz="1000">
                <a:solidFill>
                  <a:srgbClr val="FFFFFF"/>
                </a:solidFill>
                <a:latin typeface="Courier New"/>
              </a:rPr>
              <a:t>    }</a:t>
            </a:r>
            <a:br/>
            <a:r>
              <a:rPr sz="1000">
                <a:solidFill>
                  <a:srgbClr val="FFFFFF"/>
                </a:solidFill>
                <a:latin typeface="Courier New"/>
              </a:rPr>
              <a:t>  }</a:t>
            </a:r>
            <a:br/>
            <a:r>
              <a:rPr sz="1000">
                <a:solidFill>
                  <a:srgbClr val="FFFFFF"/>
                </a:solidFill>
                <a:latin typeface="Courier New"/>
              </a:rPr>
              <a:t>}</a:t>
            </a:r>
          </a:p>
        </p:txBody>
      </p:sp>
      <p:sp>
        <p:nvSpPr>
          <p:cNvPr id="10" name="Rounded Rectangle 9"/>
          <p:cNvSpPr/>
          <p:nvPr/>
        </p:nvSpPr>
        <p:spPr>
          <a:xfrm>
            <a:off x="7406640" y="1280160"/>
            <a:ext cx="416052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406640" y="128016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607808" y="1417319"/>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web1</a:t>
            </a:r>
          </a:p>
        </p:txBody>
      </p:sp>
      <p:sp>
        <p:nvSpPr>
          <p:cNvPr id="13" name="TextBox 12"/>
          <p:cNvSpPr txBox="1"/>
          <p:nvPr/>
        </p:nvSpPr>
        <p:spPr>
          <a:xfrm>
            <a:off x="7607808" y="1874519"/>
            <a:ext cx="377647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Zone 1 • VM size F2as_v7</a:t>
            </a:r>
          </a:p>
        </p:txBody>
      </p:sp>
      <p:sp>
        <p:nvSpPr>
          <p:cNvPr id="14" name="Rounded Rectangle 13"/>
          <p:cNvSpPr/>
          <p:nvPr/>
        </p:nvSpPr>
        <p:spPr>
          <a:xfrm>
            <a:off x="7406640" y="2606040"/>
            <a:ext cx="416052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406640" y="2606040"/>
            <a:ext cx="64008" cy="114300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607808" y="2743200"/>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web2</a:t>
            </a:r>
          </a:p>
        </p:txBody>
      </p:sp>
      <p:sp>
        <p:nvSpPr>
          <p:cNvPr id="17" name="TextBox 16"/>
          <p:cNvSpPr txBox="1"/>
          <p:nvPr/>
        </p:nvSpPr>
        <p:spPr>
          <a:xfrm>
            <a:off x="7607808" y="3200400"/>
            <a:ext cx="377647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Zone 2 • VM size D2alds_v7</a:t>
            </a:r>
          </a:p>
        </p:txBody>
      </p:sp>
      <p:sp>
        <p:nvSpPr>
          <p:cNvPr id="18" name="Rounded Rectangle 17"/>
          <p:cNvSpPr/>
          <p:nvPr/>
        </p:nvSpPr>
        <p:spPr>
          <a:xfrm>
            <a:off x="7406640" y="3931920"/>
            <a:ext cx="416052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406640" y="3931920"/>
            <a:ext cx="64008" cy="114300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607808" y="4069080"/>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Why map(object)?</a:t>
            </a:r>
          </a:p>
        </p:txBody>
      </p:sp>
      <p:sp>
        <p:nvSpPr>
          <p:cNvPr id="21" name="TextBox 20"/>
          <p:cNvSpPr txBox="1"/>
          <p:nvPr/>
        </p:nvSpPr>
        <p:spPr>
          <a:xfrm>
            <a:off x="7607808" y="4526280"/>
            <a:ext cx="377647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Strong structure, easy scaling and clear per-instance attributes.</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Linux Virtual Machines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VM resource uses the map with for_each, zones and an SSH public key.</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COMPUTE</a:t>
            </a:r>
          </a:p>
        </p:txBody>
      </p:sp>
      <p:sp>
        <p:nvSpPr>
          <p:cNvPr id="7" name="Rounded Rectangle 6"/>
          <p:cNvSpPr/>
          <p:nvPr/>
        </p:nvSpPr>
        <p:spPr>
          <a:xfrm>
            <a:off x="502920" y="1143000"/>
            <a:ext cx="6903720" cy="534924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667512" y="1234440"/>
            <a:ext cx="658368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vm.tf</a:t>
            </a:r>
          </a:p>
        </p:txBody>
      </p:sp>
      <p:sp>
        <p:nvSpPr>
          <p:cNvPr id="9" name="TextBox 8"/>
          <p:cNvSpPr txBox="1"/>
          <p:nvPr/>
        </p:nvSpPr>
        <p:spPr>
          <a:xfrm>
            <a:off x="667512" y="1527048"/>
            <a:ext cx="6583680" cy="4828031"/>
          </a:xfrm>
          <a:prstGeom prst="rect">
            <a:avLst/>
          </a:prstGeom>
          <a:noFill/>
        </p:spPr>
        <p:txBody>
          <a:bodyPr wrap="none" lIns="38100" rIns="38100" tIns="25400" bIns="25400">
            <a:spAutoFit/>
          </a:bodyPr>
          <a:lstStyle/>
          <a:p>
            <a:pPr>
              <a:defRPr sz="900">
                <a:solidFill>
                  <a:srgbClr val="FFFFFF"/>
                </a:solidFill>
                <a:latin typeface="Consolas"/>
              </a:defRPr>
            </a:pPr>
            <a:r>
              <a:rPr sz="1000">
                <a:solidFill>
                  <a:srgbClr val="FFFFFF"/>
                </a:solidFill>
                <a:latin typeface="Courier New"/>
              </a:rPr>
              <a:t>resource "azurerm_linux_virtual_machine" "web-vm" {</a:t>
            </a:r>
            <a:br/>
            <a:r>
              <a:rPr sz="1000">
                <a:solidFill>
                  <a:srgbClr val="FFFFFF"/>
                </a:solidFill>
                <a:latin typeface="Courier New"/>
              </a:rPr>
              <a:t>  for_each = var.instance</a:t>
            </a:r>
            <a:br/>
            <a:br/>
            <a:r>
              <a:rPr sz="1000">
                <a:solidFill>
                  <a:srgbClr val="FFFFFF"/>
                </a:solidFill>
                <a:latin typeface="Courier New"/>
              </a:rPr>
              <a:t>  name                = "${local.name_prefix}-${each.key}-web-vm"</a:t>
            </a:r>
            <a:br/>
            <a:r>
              <a:rPr sz="1000">
                <a:solidFill>
                  <a:srgbClr val="FFFFFF"/>
                </a:solidFill>
                <a:latin typeface="Courier New"/>
              </a:rPr>
              <a:t>  location            = azurerm_resource_group.my-rg.location</a:t>
            </a:r>
            <a:br/>
            <a:r>
              <a:rPr sz="1000">
                <a:solidFill>
                  <a:srgbClr val="FFFFFF"/>
                </a:solidFill>
                <a:latin typeface="Courier New"/>
              </a:rPr>
              <a:t>  resource_group_name = azurerm_resource_group.my-rg.name</a:t>
            </a:r>
            <a:br/>
            <a:r>
              <a:rPr sz="1000">
                <a:solidFill>
                  <a:srgbClr val="FFFFFF"/>
                </a:solidFill>
                <a:latin typeface="Courier New"/>
              </a:rPr>
              <a:t>  size                = each.value.vm_size</a:t>
            </a:r>
            <a:br/>
            <a:r>
              <a:rPr sz="1000">
                <a:solidFill>
                  <a:srgbClr val="FFFFFF"/>
                </a:solidFill>
                <a:latin typeface="Courier New"/>
              </a:rPr>
              <a:t>  zone                = each.value.availability_zone</a:t>
            </a:r>
            <a:br/>
            <a:br/>
            <a:r>
              <a:rPr sz="1000">
                <a:solidFill>
                  <a:srgbClr val="FFFFFF"/>
                </a:solidFill>
                <a:latin typeface="Courier New"/>
              </a:rPr>
              <a:t>  admin_username = "azureuser"</a:t>
            </a:r>
            <a:br/>
            <a:br/>
            <a:r>
              <a:rPr sz="1000">
                <a:solidFill>
                  <a:srgbClr val="FFFFFF"/>
                </a:solidFill>
                <a:latin typeface="Courier New"/>
              </a:rPr>
              <a:t>  network_interface_ids = [</a:t>
            </a:r>
            <a:br/>
            <a:r>
              <a:rPr sz="1000">
                <a:solidFill>
                  <a:srgbClr val="FFFFFF"/>
                </a:solidFill>
                <a:latin typeface="Courier New"/>
              </a:rPr>
              <a:t>    azurerm_network_interface.web_nic[each.key].id</a:t>
            </a:r>
            <a:br/>
            <a:r>
              <a:rPr sz="1000">
                <a:solidFill>
                  <a:srgbClr val="FFFFFF"/>
                </a:solidFill>
                <a:latin typeface="Courier New"/>
              </a:rPr>
              <a:t>  ]</a:t>
            </a:r>
            <a:br/>
            <a:br/>
            <a:r>
              <a:rPr sz="1000">
                <a:solidFill>
                  <a:srgbClr val="FFFFFF"/>
                </a:solidFill>
                <a:latin typeface="Courier New"/>
              </a:rPr>
              <a:t>  admin_ssh_key {</a:t>
            </a:r>
            <a:br/>
            <a:r>
              <a:rPr sz="1000">
                <a:solidFill>
                  <a:srgbClr val="FFFFFF"/>
                </a:solidFill>
                <a:latin typeface="Courier New"/>
              </a:rPr>
              <a:t>    username   = "azureuser"</a:t>
            </a:r>
            <a:br/>
            <a:r>
              <a:rPr sz="1000">
                <a:solidFill>
                  <a:srgbClr val="FFFFFF"/>
                </a:solidFill>
                <a:latin typeface="Courier New"/>
              </a:rPr>
              <a:t>    public_key = file("${path.module}/ssh-keys/terraform-azure.pem.pub")</a:t>
            </a:r>
            <a:br/>
            <a:r>
              <a:rPr sz="1000">
                <a:solidFill>
                  <a:srgbClr val="FFFFFF"/>
                </a:solidFill>
                <a:latin typeface="Courier New"/>
              </a:rPr>
              <a:t>  }</a:t>
            </a:r>
            <a:br/>
            <a:r>
              <a:rPr sz="1000">
                <a:solidFill>
                  <a:srgbClr val="FFFFFF"/>
                </a:solidFill>
                <a:latin typeface="Courier New"/>
              </a:rPr>
              <a:t>}</a:t>
            </a:r>
          </a:p>
        </p:txBody>
      </p:sp>
      <p:sp>
        <p:nvSpPr>
          <p:cNvPr id="10" name="Rounded Rectangle 9"/>
          <p:cNvSpPr/>
          <p:nvPr/>
        </p:nvSpPr>
        <p:spPr>
          <a:xfrm>
            <a:off x="7726679" y="1234440"/>
            <a:ext cx="37947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726679" y="123444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927848" y="1371600"/>
            <a:ext cx="34290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for_each</a:t>
            </a:r>
          </a:p>
        </p:txBody>
      </p:sp>
      <p:sp>
        <p:nvSpPr>
          <p:cNvPr id="13" name="TextBox 12"/>
          <p:cNvSpPr txBox="1"/>
          <p:nvPr/>
        </p:nvSpPr>
        <p:spPr>
          <a:xfrm>
            <a:off x="7927848" y="1828800"/>
            <a:ext cx="34107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Resource address becomes web-vm["web1"] and web-vm["web2"].</a:t>
            </a:r>
          </a:p>
        </p:txBody>
      </p:sp>
      <p:sp>
        <p:nvSpPr>
          <p:cNvPr id="14" name="Rounded Rectangle 13"/>
          <p:cNvSpPr/>
          <p:nvPr/>
        </p:nvSpPr>
        <p:spPr>
          <a:xfrm>
            <a:off x="7726679" y="2514600"/>
            <a:ext cx="37947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726679" y="251460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927848" y="2651760"/>
            <a:ext cx="34290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Availability zones</a:t>
            </a:r>
          </a:p>
        </p:txBody>
      </p:sp>
      <p:sp>
        <p:nvSpPr>
          <p:cNvPr id="17" name="TextBox 16"/>
          <p:cNvSpPr txBox="1"/>
          <p:nvPr/>
        </p:nvSpPr>
        <p:spPr>
          <a:xfrm>
            <a:off x="7927848" y="3108960"/>
            <a:ext cx="34107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web1 → Zone 1, web2 → Zone 2 for resilience.</a:t>
            </a:r>
          </a:p>
        </p:txBody>
      </p:sp>
      <p:sp>
        <p:nvSpPr>
          <p:cNvPr id="18" name="Rounded Rectangle 17"/>
          <p:cNvSpPr/>
          <p:nvPr/>
        </p:nvSpPr>
        <p:spPr>
          <a:xfrm>
            <a:off x="7726679" y="3794760"/>
            <a:ext cx="37947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726679" y="3794760"/>
            <a:ext cx="64008" cy="10972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927848" y="3931920"/>
            <a:ext cx="34290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SSH authentication</a:t>
            </a:r>
          </a:p>
        </p:txBody>
      </p:sp>
      <p:sp>
        <p:nvSpPr>
          <p:cNvPr id="21" name="TextBox 20"/>
          <p:cNvSpPr txBox="1"/>
          <p:nvPr/>
        </p:nvSpPr>
        <p:spPr>
          <a:xfrm>
            <a:off x="7927848" y="4389120"/>
            <a:ext cx="34107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Only the public key is stored in the VM configuration.</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Ubuntu Image, OS Disk &amp; Custom Data</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Use a current Ubuntu image reference and bootstrap the web server at first boot.</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COMPUTE</a:t>
            </a:r>
          </a:p>
        </p:txBody>
      </p:sp>
      <p:sp>
        <p:nvSpPr>
          <p:cNvPr id="7" name="Rounded Rectangle 6"/>
          <p:cNvSpPr/>
          <p:nvPr/>
        </p:nvSpPr>
        <p:spPr>
          <a:xfrm>
            <a:off x="640080" y="1325880"/>
            <a:ext cx="5623560" cy="36576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04671" y="1417320"/>
            <a:ext cx="530352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vm.tf</a:t>
            </a:r>
          </a:p>
        </p:txBody>
      </p:sp>
      <p:sp>
        <p:nvSpPr>
          <p:cNvPr id="9" name="TextBox 8"/>
          <p:cNvSpPr txBox="1"/>
          <p:nvPr/>
        </p:nvSpPr>
        <p:spPr>
          <a:xfrm>
            <a:off x="804671" y="1709928"/>
            <a:ext cx="5303520" cy="313639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source_image_reference {</a:t>
            </a:r>
            <a:br/>
            <a:r>
              <a:rPr sz="1000">
                <a:solidFill>
                  <a:srgbClr val="FFFFFF"/>
                </a:solidFill>
                <a:latin typeface="Courier New"/>
              </a:rPr>
              <a:t>  publisher = "Canonical"</a:t>
            </a:r>
            <a:br/>
            <a:r>
              <a:rPr sz="1000">
                <a:solidFill>
                  <a:srgbClr val="FFFFFF"/>
                </a:solidFill>
                <a:latin typeface="Courier New"/>
              </a:rPr>
              <a:t>  offer     = "ubuntu-24_04-lts"</a:t>
            </a:r>
            <a:br/>
            <a:r>
              <a:rPr sz="1000">
                <a:solidFill>
                  <a:srgbClr val="FFFFFF"/>
                </a:solidFill>
                <a:latin typeface="Courier New"/>
              </a:rPr>
              <a:t>  sku       = "server"</a:t>
            </a:r>
            <a:br/>
            <a:r>
              <a:rPr sz="1000">
                <a:solidFill>
                  <a:srgbClr val="FFFFFF"/>
                </a:solidFill>
                <a:latin typeface="Courier New"/>
              </a:rPr>
              <a:t>  version   = "latest"</a:t>
            </a:r>
            <a:br/>
            <a:r>
              <a:rPr sz="1000">
                <a:solidFill>
                  <a:srgbClr val="FFFFFF"/>
                </a:solidFill>
                <a:latin typeface="Courier New"/>
              </a:rPr>
              <a:t>}</a:t>
            </a:r>
            <a:br/>
            <a:br/>
            <a:r>
              <a:rPr sz="1000">
                <a:solidFill>
                  <a:srgbClr val="FFFFFF"/>
                </a:solidFill>
                <a:latin typeface="Courier New"/>
              </a:rPr>
              <a:t>os_disk {</a:t>
            </a:r>
            <a:br/>
            <a:r>
              <a:rPr sz="1000">
                <a:solidFill>
                  <a:srgbClr val="FFFFFF"/>
                </a:solidFill>
                <a:latin typeface="Courier New"/>
              </a:rPr>
              <a:t>  caching              = "ReadWrite"</a:t>
            </a:r>
            <a:br/>
            <a:r>
              <a:rPr sz="1000">
                <a:solidFill>
                  <a:srgbClr val="FFFFFF"/>
                </a:solidFill>
                <a:latin typeface="Courier New"/>
              </a:rPr>
              <a:t>  storage_account_type = "Standard_LRS"</a:t>
            </a:r>
            <a:br/>
            <a:r>
              <a:rPr sz="1000">
                <a:solidFill>
                  <a:srgbClr val="FFFFFF"/>
                </a:solidFill>
                <a:latin typeface="Courier New"/>
              </a:rPr>
              <a:t>}</a:t>
            </a:r>
            <a:br/>
            <a:br/>
            <a:r>
              <a:rPr sz="1000">
                <a:solidFill>
                  <a:srgbClr val="FFFFFF"/>
                </a:solidFill>
                <a:latin typeface="Courier New"/>
              </a:rPr>
              <a:t>custom_data = filebase64("${path.module}/app.sh")</a:t>
            </a:r>
          </a:p>
        </p:txBody>
      </p:sp>
      <p:sp>
        <p:nvSpPr>
          <p:cNvPr id="10" name="Rounded Rectangle 9"/>
          <p:cNvSpPr/>
          <p:nvPr/>
        </p:nvSpPr>
        <p:spPr>
          <a:xfrm>
            <a:off x="6629400" y="1325880"/>
            <a:ext cx="470916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6629400" y="132588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830568" y="1463039"/>
            <a:ext cx="43434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Source image</a:t>
            </a:r>
          </a:p>
        </p:txBody>
      </p:sp>
      <p:sp>
        <p:nvSpPr>
          <p:cNvPr id="13" name="TextBox 12"/>
          <p:cNvSpPr txBox="1"/>
          <p:nvPr/>
        </p:nvSpPr>
        <p:spPr>
          <a:xfrm>
            <a:off x="6830568" y="1920240"/>
            <a:ext cx="432511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Canonical Ubuntu 24.04 LTS image family.</a:t>
            </a:r>
          </a:p>
        </p:txBody>
      </p:sp>
      <p:sp>
        <p:nvSpPr>
          <p:cNvPr id="14" name="Rounded Rectangle 13"/>
          <p:cNvSpPr/>
          <p:nvPr/>
        </p:nvSpPr>
        <p:spPr>
          <a:xfrm>
            <a:off x="6629400" y="2651760"/>
            <a:ext cx="470916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6629400" y="2651760"/>
            <a:ext cx="64008" cy="114300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830568" y="2788920"/>
            <a:ext cx="43434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OS disk</a:t>
            </a:r>
          </a:p>
        </p:txBody>
      </p:sp>
      <p:sp>
        <p:nvSpPr>
          <p:cNvPr id="17" name="TextBox 16"/>
          <p:cNvSpPr txBox="1"/>
          <p:nvPr/>
        </p:nvSpPr>
        <p:spPr>
          <a:xfrm>
            <a:off x="6830568" y="3246120"/>
            <a:ext cx="432511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Standard_LRS is a lower-cost managed disk option suitable for a basic lab.</a:t>
            </a:r>
          </a:p>
        </p:txBody>
      </p:sp>
      <p:sp>
        <p:nvSpPr>
          <p:cNvPr id="18" name="Rounded Rectangle 17"/>
          <p:cNvSpPr/>
          <p:nvPr/>
        </p:nvSpPr>
        <p:spPr>
          <a:xfrm>
            <a:off x="6629400" y="3977639"/>
            <a:ext cx="470916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629400" y="3977639"/>
            <a:ext cx="64008" cy="114300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830568" y="4114800"/>
            <a:ext cx="43434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custom_data</a:t>
            </a:r>
          </a:p>
        </p:txBody>
      </p:sp>
      <p:sp>
        <p:nvSpPr>
          <p:cNvPr id="21" name="TextBox 20"/>
          <p:cNvSpPr txBox="1"/>
          <p:nvPr/>
        </p:nvSpPr>
        <p:spPr>
          <a:xfrm>
            <a:off x="6830568" y="4572000"/>
            <a:ext cx="432511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Terraform base64-encodes app.sh and sends it to cloud-init during VM provisioning.</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Azure Load Balancer — Public IP</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Standard Load Balancer receives internet traffic through a static public IP.</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LOAD BALANCING</a:t>
            </a:r>
          </a:p>
        </p:txBody>
      </p:sp>
      <p:sp>
        <p:nvSpPr>
          <p:cNvPr id="7" name="Rounded Rectangle 6"/>
          <p:cNvSpPr/>
          <p:nvPr/>
        </p:nvSpPr>
        <p:spPr>
          <a:xfrm>
            <a:off x="640080" y="1325880"/>
            <a:ext cx="5532120" cy="36576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04671" y="1417320"/>
            <a:ext cx="521208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loadbalancer.tf</a:t>
            </a:r>
          </a:p>
        </p:txBody>
      </p:sp>
      <p:sp>
        <p:nvSpPr>
          <p:cNvPr id="9" name="TextBox 8"/>
          <p:cNvSpPr txBox="1"/>
          <p:nvPr/>
        </p:nvSpPr>
        <p:spPr>
          <a:xfrm>
            <a:off x="804671" y="1709928"/>
            <a:ext cx="5212080" cy="3136392"/>
          </a:xfrm>
          <a:prstGeom prst="rect">
            <a:avLst/>
          </a:prstGeom>
          <a:noFill/>
        </p:spPr>
        <p:txBody>
          <a:bodyPr wrap="none" lIns="38100" rIns="38100" tIns="25400" bIns="25400">
            <a:spAutoFit/>
          </a:bodyPr>
          <a:lstStyle/>
          <a:p>
            <a:pPr>
              <a:defRPr sz="1100">
                <a:solidFill>
                  <a:srgbClr val="FFFFFF"/>
                </a:solidFill>
                <a:latin typeface="Consolas"/>
              </a:defRPr>
            </a:pPr>
            <a:r>
              <a:rPr sz="1000">
                <a:solidFill>
                  <a:srgbClr val="FFFFFF"/>
                </a:solidFill>
                <a:latin typeface="Courier New"/>
              </a:rPr>
              <a:t>resource "azurerm_public_ip" "lb_publicip" {</a:t>
            </a:r>
            <a:br/>
            <a:r>
              <a:rPr sz="1000">
                <a:solidFill>
                  <a:srgbClr val="FFFFFF"/>
                </a:solidFill>
                <a:latin typeface="Courier New"/>
              </a:rPr>
              <a:t>  name                = "${local.name_prefix}-lb-publicip"</a:t>
            </a:r>
            <a:br/>
            <a:r>
              <a:rPr sz="1000">
                <a:solidFill>
                  <a:srgbClr val="FFFFFF"/>
                </a:solidFill>
                <a:latin typeface="Courier New"/>
              </a:rPr>
              <a:t>  location            = azurerm_resource_group.my-rg.location</a:t>
            </a:r>
            <a:br/>
            <a:r>
              <a:rPr sz="1000">
                <a:solidFill>
                  <a:srgbClr val="FFFFFF"/>
                </a:solidFill>
                <a:latin typeface="Courier New"/>
              </a:rPr>
              <a:t>  resource_group_name = azurerm_resource_group.my-rg.name</a:t>
            </a:r>
            <a:br/>
            <a:br/>
            <a:r>
              <a:rPr sz="1000">
                <a:solidFill>
                  <a:srgbClr val="FFFFFF"/>
                </a:solidFill>
                <a:latin typeface="Courier New"/>
              </a:rPr>
              <a:t>  allocation_method = "Static"</a:t>
            </a:r>
            <a:br/>
            <a:r>
              <a:rPr sz="1000">
                <a:solidFill>
                  <a:srgbClr val="FFFFFF"/>
                </a:solidFill>
                <a:latin typeface="Courier New"/>
              </a:rPr>
              <a:t>  sku               = "Standard"</a:t>
            </a:r>
            <a:br/>
            <a:r>
              <a:rPr sz="1000">
                <a:solidFill>
                  <a:srgbClr val="FFFFFF"/>
                </a:solidFill>
                <a:latin typeface="Courier New"/>
              </a:rPr>
              <a:t>  tags              = local.project_tags</a:t>
            </a:r>
            <a:br/>
            <a:r>
              <a:rPr sz="1000">
                <a:solidFill>
                  <a:srgbClr val="FFFFFF"/>
                </a:solidFill>
                <a:latin typeface="Courier New"/>
              </a:rPr>
              <a:t>}</a:t>
            </a:r>
          </a:p>
        </p:txBody>
      </p:sp>
      <p:sp>
        <p:nvSpPr>
          <p:cNvPr id="10" name="Rounded Rectangle 9"/>
          <p:cNvSpPr/>
          <p:nvPr/>
        </p:nvSpPr>
        <p:spPr>
          <a:xfrm>
            <a:off x="6583680" y="1325880"/>
            <a:ext cx="466344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6583680" y="132588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784848" y="1463039"/>
            <a:ext cx="429767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Static</a:t>
            </a:r>
          </a:p>
        </p:txBody>
      </p:sp>
      <p:sp>
        <p:nvSpPr>
          <p:cNvPr id="13" name="TextBox 12"/>
          <p:cNvSpPr txBox="1"/>
          <p:nvPr/>
        </p:nvSpPr>
        <p:spPr>
          <a:xfrm>
            <a:off x="6784848" y="1920240"/>
            <a:ext cx="427939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The address remains stable while the resource exists.</a:t>
            </a:r>
          </a:p>
        </p:txBody>
      </p:sp>
      <p:sp>
        <p:nvSpPr>
          <p:cNvPr id="14" name="Rounded Rectangle 13"/>
          <p:cNvSpPr/>
          <p:nvPr/>
        </p:nvSpPr>
        <p:spPr>
          <a:xfrm>
            <a:off x="6583680" y="2606040"/>
            <a:ext cx="466344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6583680" y="260604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784848" y="2743200"/>
            <a:ext cx="429767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Standard SKU</a:t>
            </a:r>
          </a:p>
        </p:txBody>
      </p:sp>
      <p:sp>
        <p:nvSpPr>
          <p:cNvPr id="17" name="TextBox 16"/>
          <p:cNvSpPr txBox="1"/>
          <p:nvPr/>
        </p:nvSpPr>
        <p:spPr>
          <a:xfrm>
            <a:off x="6784848" y="3200400"/>
            <a:ext cx="427939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Matches the Standard Load Balancer design used in this configuration.</a:t>
            </a:r>
          </a:p>
        </p:txBody>
      </p:sp>
      <p:sp>
        <p:nvSpPr>
          <p:cNvPr id="18" name="Rounded Rectangle 17"/>
          <p:cNvSpPr/>
          <p:nvPr/>
        </p:nvSpPr>
        <p:spPr>
          <a:xfrm>
            <a:off x="6583680" y="3886200"/>
            <a:ext cx="466344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583680" y="3886200"/>
            <a:ext cx="64008" cy="10972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784848" y="4023360"/>
            <a:ext cx="429767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Output</a:t>
            </a:r>
          </a:p>
        </p:txBody>
      </p:sp>
      <p:sp>
        <p:nvSpPr>
          <p:cNvPr id="21" name="TextBox 20"/>
          <p:cNvSpPr txBox="1"/>
          <p:nvPr/>
        </p:nvSpPr>
        <p:spPr>
          <a:xfrm>
            <a:off x="6784848" y="4480560"/>
            <a:ext cx="427939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Expose the resulting address with azurerm_public_ip.lb_publicip.ip_address.</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Load Balancer Traffic Flow</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Four resources form the data path: frontend IP → rule → backend pool → healthy NIC.</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LOAD BALANCING</a:t>
            </a:r>
          </a:p>
        </p:txBody>
      </p:sp>
      <p:sp>
        <p:nvSpPr>
          <p:cNvPr id="7" name="Rounded Rectangle 6"/>
          <p:cNvSpPr/>
          <p:nvPr/>
        </p:nvSpPr>
        <p:spPr>
          <a:xfrm>
            <a:off x="594360" y="2103120"/>
            <a:ext cx="2011680" cy="77724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667512" y="2176272"/>
            <a:ext cx="18653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Public IP</a:t>
            </a:r>
          </a:p>
        </p:txBody>
      </p:sp>
      <p:sp>
        <p:nvSpPr>
          <p:cNvPr id="9" name="Rounded Rectangle 8"/>
          <p:cNvSpPr/>
          <p:nvPr/>
        </p:nvSpPr>
        <p:spPr>
          <a:xfrm>
            <a:off x="3017520" y="2103120"/>
            <a:ext cx="2011680" cy="77724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3090672" y="2176272"/>
            <a:ext cx="18653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LB Frontend</a:t>
            </a:r>
          </a:p>
        </p:txBody>
      </p:sp>
      <p:sp>
        <p:nvSpPr>
          <p:cNvPr id="11" name="Rounded Rectangle 10"/>
          <p:cNvSpPr/>
          <p:nvPr/>
        </p:nvSpPr>
        <p:spPr>
          <a:xfrm>
            <a:off x="5440680" y="2103120"/>
            <a:ext cx="2011680" cy="77724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5513832" y="2176272"/>
            <a:ext cx="18653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LB Rule</a:t>
            </a:r>
            <a:br/>
            <a:r>
              <a:rPr sz="1100">
                <a:solidFill>
                  <a:srgbClr val="232A37"/>
                </a:solidFill>
                <a:latin typeface="Arial"/>
              </a:rPr>
              <a:t>TCP 80→80</a:t>
            </a:r>
          </a:p>
        </p:txBody>
      </p:sp>
      <p:sp>
        <p:nvSpPr>
          <p:cNvPr id="13" name="Rounded Rectangle 12"/>
          <p:cNvSpPr/>
          <p:nvPr/>
        </p:nvSpPr>
        <p:spPr>
          <a:xfrm>
            <a:off x="7863840" y="2103120"/>
            <a:ext cx="2011680" cy="777240"/>
          </a:xfrm>
          <a:prstGeom prst="roundRect">
            <a:avLst/>
          </a:prstGeom>
          <a:solidFill>
            <a:srgbClr val="FFFFFF"/>
          </a:solidFill>
          <a:ln w="19050">
            <a:solidFill>
              <a:srgbClr val="7D5AD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7936992" y="2176272"/>
            <a:ext cx="18653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Backend Pool</a:t>
            </a:r>
          </a:p>
        </p:txBody>
      </p:sp>
      <p:sp>
        <p:nvSpPr>
          <p:cNvPr id="15" name="Rounded Rectangle 14"/>
          <p:cNvSpPr/>
          <p:nvPr/>
        </p:nvSpPr>
        <p:spPr>
          <a:xfrm>
            <a:off x="10104120" y="1508760"/>
            <a:ext cx="1463040" cy="68580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10177272" y="1581912"/>
            <a:ext cx="1316736" cy="5394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VM 1</a:t>
            </a:r>
          </a:p>
        </p:txBody>
      </p:sp>
      <p:sp>
        <p:nvSpPr>
          <p:cNvPr id="17" name="Rounded Rectangle 16"/>
          <p:cNvSpPr/>
          <p:nvPr/>
        </p:nvSpPr>
        <p:spPr>
          <a:xfrm>
            <a:off x="10104120" y="2743200"/>
            <a:ext cx="1463040" cy="68580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8" name="TextBox 17"/>
          <p:cNvSpPr txBox="1"/>
          <p:nvPr/>
        </p:nvSpPr>
        <p:spPr>
          <a:xfrm>
            <a:off x="10177272" y="2816352"/>
            <a:ext cx="1316736" cy="5394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VM 2</a:t>
            </a:r>
          </a:p>
        </p:txBody>
      </p:sp>
      <p:cxnSp>
        <p:nvCxnSpPr>
          <p:cNvPr id="19" name="Connector 18"/>
          <p:cNvCxnSpPr/>
          <p:nvPr/>
        </p:nvCxnSpPr>
        <p:spPr>
          <a:xfrm>
            <a:off x="2606040" y="2487168"/>
            <a:ext cx="411480" cy="0"/>
          </a:xfrm>
          <a:prstGeom prst="line">
            <a:avLst/>
          </a:prstGeom>
          <a:ln w="38100">
            <a:solidFill>
              <a:srgbClr val="2D69DC"/>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029200" y="2487168"/>
            <a:ext cx="411480" cy="0"/>
          </a:xfrm>
          <a:prstGeom prst="line">
            <a:avLst/>
          </a:prstGeom>
          <a:ln w="38100">
            <a:solidFill>
              <a:srgbClr val="2DBEC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52360" y="2487168"/>
            <a:ext cx="411480" cy="0"/>
          </a:xfrm>
          <a:prstGeom prst="line">
            <a:avLst/>
          </a:prstGeom>
          <a:ln w="38100">
            <a:solidFill>
              <a:srgbClr val="F2994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9875520" y="1874519"/>
            <a:ext cx="228600" cy="612649"/>
          </a:xfrm>
          <a:prstGeom prst="line">
            <a:avLst/>
          </a:prstGeom>
          <a:ln w="25400">
            <a:solidFill>
              <a:srgbClr val="7D5AD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875520" y="2487168"/>
            <a:ext cx="228600" cy="576072"/>
          </a:xfrm>
          <a:prstGeom prst="line">
            <a:avLst/>
          </a:prstGeom>
          <a:ln w="25400">
            <a:solidFill>
              <a:srgbClr val="7D5AD2"/>
            </a:solidFill>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85800" y="4160520"/>
            <a:ext cx="33832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5" name="Rectangle 24"/>
          <p:cNvSpPr/>
          <p:nvPr/>
        </p:nvSpPr>
        <p:spPr>
          <a:xfrm>
            <a:off x="685800" y="4160520"/>
            <a:ext cx="64008" cy="114300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6" name="TextBox 25"/>
          <p:cNvSpPr txBox="1"/>
          <p:nvPr/>
        </p:nvSpPr>
        <p:spPr>
          <a:xfrm>
            <a:off x="886968" y="4297680"/>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Backend pool</a:t>
            </a:r>
          </a:p>
        </p:txBody>
      </p:sp>
      <p:sp>
        <p:nvSpPr>
          <p:cNvPr id="27" name="TextBox 26"/>
          <p:cNvSpPr txBox="1"/>
          <p:nvPr/>
        </p:nvSpPr>
        <p:spPr>
          <a:xfrm>
            <a:off x="886968" y="4754880"/>
            <a:ext cx="29992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Logical collection of VM NIC IP configurations that can receive traffic.</a:t>
            </a:r>
          </a:p>
        </p:txBody>
      </p:sp>
      <p:sp>
        <p:nvSpPr>
          <p:cNvPr id="28" name="Rounded Rectangle 27"/>
          <p:cNvSpPr/>
          <p:nvPr/>
        </p:nvSpPr>
        <p:spPr>
          <a:xfrm>
            <a:off x="4389120" y="4160520"/>
            <a:ext cx="33832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Rectangle 28"/>
          <p:cNvSpPr/>
          <p:nvPr/>
        </p:nvSpPr>
        <p:spPr>
          <a:xfrm>
            <a:off x="4389120" y="4160520"/>
            <a:ext cx="64008" cy="1143000"/>
          </a:xfrm>
          <a:prstGeom prst="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0" name="TextBox 29"/>
          <p:cNvSpPr txBox="1"/>
          <p:nvPr/>
        </p:nvSpPr>
        <p:spPr>
          <a:xfrm>
            <a:off x="4590288" y="4297680"/>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Health probe</a:t>
            </a:r>
          </a:p>
        </p:txBody>
      </p:sp>
      <p:sp>
        <p:nvSpPr>
          <p:cNvPr id="31" name="TextBox 30"/>
          <p:cNvSpPr txBox="1"/>
          <p:nvPr/>
        </p:nvSpPr>
        <p:spPr>
          <a:xfrm>
            <a:off x="4590288" y="4754880"/>
            <a:ext cx="29992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TCP port 80 is checked every 30 seconds; unhealthy endpoints are removed from rotation.</a:t>
            </a:r>
          </a:p>
        </p:txBody>
      </p:sp>
      <p:sp>
        <p:nvSpPr>
          <p:cNvPr id="32" name="Rounded Rectangle 31"/>
          <p:cNvSpPr/>
          <p:nvPr/>
        </p:nvSpPr>
        <p:spPr>
          <a:xfrm>
            <a:off x="8092440" y="4160520"/>
            <a:ext cx="33832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3" name="Rectangle 32"/>
          <p:cNvSpPr/>
          <p:nvPr/>
        </p:nvSpPr>
        <p:spPr>
          <a:xfrm>
            <a:off x="8092440" y="4160520"/>
            <a:ext cx="64008" cy="114300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4" name="TextBox 33"/>
          <p:cNvSpPr txBox="1"/>
          <p:nvPr/>
        </p:nvSpPr>
        <p:spPr>
          <a:xfrm>
            <a:off x="8293608" y="4297680"/>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Rule</a:t>
            </a:r>
          </a:p>
        </p:txBody>
      </p:sp>
      <p:sp>
        <p:nvSpPr>
          <p:cNvPr id="35" name="TextBox 34"/>
          <p:cNvSpPr txBox="1"/>
          <p:nvPr/>
        </p:nvSpPr>
        <p:spPr>
          <a:xfrm>
            <a:off x="8293608" y="4754880"/>
            <a:ext cx="29992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Maps frontend port 80 to backend port 80.</a:t>
            </a:r>
          </a:p>
        </p:txBody>
      </p:sp>
      <p:sp>
        <p:nvSpPr>
          <p:cNvPr id="36" name="TextBox 35"/>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Health Probe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A probe determines whether an endpoint should continue receiving load-balanced traffic.</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LOAD BALANCING</a:t>
            </a:r>
          </a:p>
        </p:txBody>
      </p:sp>
      <p:sp>
        <p:nvSpPr>
          <p:cNvPr id="7" name="Rounded Rectangle 6"/>
          <p:cNvSpPr/>
          <p:nvPr/>
        </p:nvSpPr>
        <p:spPr>
          <a:xfrm>
            <a:off x="685800" y="1417320"/>
            <a:ext cx="5486400" cy="356616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508760"/>
            <a:ext cx="516636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probe.tf</a:t>
            </a:r>
          </a:p>
        </p:txBody>
      </p:sp>
      <p:sp>
        <p:nvSpPr>
          <p:cNvPr id="9" name="TextBox 8"/>
          <p:cNvSpPr txBox="1"/>
          <p:nvPr/>
        </p:nvSpPr>
        <p:spPr>
          <a:xfrm>
            <a:off x="850392" y="1801368"/>
            <a:ext cx="5166360" cy="304495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resource "azurerm_lb_probe" "lb_probe" {</a:t>
            </a:r>
            <a:br/>
            <a:r>
              <a:rPr sz="1000">
                <a:solidFill>
                  <a:srgbClr val="FFFFFF"/>
                </a:solidFill>
                <a:latin typeface="Courier New"/>
              </a:rPr>
              <a:t>  loadbalancer_id     = azurerm_lb.web_lb.id</a:t>
            </a:r>
            <a:br/>
            <a:r>
              <a:rPr sz="1000">
                <a:solidFill>
                  <a:srgbClr val="FFFFFF"/>
                </a:solidFill>
                <a:latin typeface="Courier New"/>
              </a:rPr>
              <a:t>  name                = "frontendprobe"</a:t>
            </a:r>
            <a:br/>
            <a:r>
              <a:rPr sz="1000">
                <a:solidFill>
                  <a:srgbClr val="FFFFFF"/>
                </a:solidFill>
                <a:latin typeface="Courier New"/>
              </a:rPr>
              <a:t>  protocol            = "Tcp"</a:t>
            </a:r>
            <a:br/>
            <a:r>
              <a:rPr sz="1000">
                <a:solidFill>
                  <a:srgbClr val="FFFFFF"/>
                </a:solidFill>
                <a:latin typeface="Courier New"/>
              </a:rPr>
              <a:t>  port                = 80</a:t>
            </a:r>
            <a:br/>
            <a:r>
              <a:rPr sz="1000">
                <a:solidFill>
                  <a:srgbClr val="FFFFFF"/>
                </a:solidFill>
                <a:latin typeface="Courier New"/>
              </a:rPr>
              <a:t>  interval_in_seconds = 30</a:t>
            </a:r>
            <a:br/>
            <a:r>
              <a:rPr sz="1000">
                <a:solidFill>
                  <a:srgbClr val="FFFFFF"/>
                </a:solidFill>
                <a:latin typeface="Courier New"/>
              </a:rPr>
              <a:t>  number_of_probes    = 2</a:t>
            </a:r>
            <a:br/>
            <a:r>
              <a:rPr sz="1000">
                <a:solidFill>
                  <a:srgbClr val="FFFFFF"/>
                </a:solidFill>
                <a:latin typeface="Courier New"/>
              </a:rPr>
              <a:t>}</a:t>
            </a:r>
          </a:p>
        </p:txBody>
      </p:sp>
      <p:sp>
        <p:nvSpPr>
          <p:cNvPr id="10" name="Rounded Rectangle 9"/>
          <p:cNvSpPr/>
          <p:nvPr/>
        </p:nvSpPr>
        <p:spPr>
          <a:xfrm>
            <a:off x="6675120" y="1554480"/>
            <a:ext cx="132588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TextBox 10"/>
          <p:cNvSpPr txBox="1"/>
          <p:nvPr/>
        </p:nvSpPr>
        <p:spPr>
          <a:xfrm>
            <a:off x="6675120" y="1572768"/>
            <a:ext cx="13258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 = 0</a:t>
            </a:r>
          </a:p>
        </p:txBody>
      </p:sp>
      <p:sp>
        <p:nvSpPr>
          <p:cNvPr id="12" name="Rounded Rectangle 11"/>
          <p:cNvSpPr/>
          <p:nvPr/>
        </p:nvSpPr>
        <p:spPr>
          <a:xfrm>
            <a:off x="8183879" y="1554480"/>
            <a:ext cx="1325880" cy="310896"/>
          </a:xfrm>
          <a:prstGeom prst="round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3" name="TextBox 12"/>
          <p:cNvSpPr txBox="1"/>
          <p:nvPr/>
        </p:nvSpPr>
        <p:spPr>
          <a:xfrm>
            <a:off x="8183879" y="1572768"/>
            <a:ext cx="13258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30 sec</a:t>
            </a:r>
          </a:p>
        </p:txBody>
      </p:sp>
      <p:sp>
        <p:nvSpPr>
          <p:cNvPr id="14" name="Rounded Rectangle 13"/>
          <p:cNvSpPr/>
          <p:nvPr/>
        </p:nvSpPr>
        <p:spPr>
          <a:xfrm>
            <a:off x="9692640" y="1554480"/>
            <a:ext cx="132588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TextBox 14"/>
          <p:cNvSpPr txBox="1"/>
          <p:nvPr/>
        </p:nvSpPr>
        <p:spPr>
          <a:xfrm>
            <a:off x="9692640" y="1572768"/>
            <a:ext cx="132588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60 sec</a:t>
            </a:r>
          </a:p>
        </p:txBody>
      </p:sp>
      <p:cxnSp>
        <p:nvCxnSpPr>
          <p:cNvPr id="16" name="Connector 15"/>
          <p:cNvCxnSpPr/>
          <p:nvPr/>
        </p:nvCxnSpPr>
        <p:spPr>
          <a:xfrm>
            <a:off x="8001000" y="1709928"/>
            <a:ext cx="182879"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9509760" y="1709928"/>
            <a:ext cx="18288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583680" y="2240280"/>
            <a:ext cx="466344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583680" y="224028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784848" y="2377440"/>
            <a:ext cx="429767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TCP probe</a:t>
            </a:r>
          </a:p>
        </p:txBody>
      </p:sp>
      <p:sp>
        <p:nvSpPr>
          <p:cNvPr id="21" name="TextBox 20"/>
          <p:cNvSpPr txBox="1"/>
          <p:nvPr/>
        </p:nvSpPr>
        <p:spPr>
          <a:xfrm>
            <a:off x="6784848" y="2834640"/>
            <a:ext cx="427939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Checks that port 80 accepts TCP connections. It is not an HTTP URL/path check.</a:t>
            </a:r>
          </a:p>
        </p:txBody>
      </p:sp>
      <p:sp>
        <p:nvSpPr>
          <p:cNvPr id="22" name="Rounded Rectangle 21"/>
          <p:cNvSpPr/>
          <p:nvPr/>
        </p:nvSpPr>
        <p:spPr>
          <a:xfrm>
            <a:off x="6583680" y="3566160"/>
            <a:ext cx="466344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Rectangle 22"/>
          <p:cNvSpPr/>
          <p:nvPr/>
        </p:nvSpPr>
        <p:spPr>
          <a:xfrm>
            <a:off x="6583680" y="3566160"/>
            <a:ext cx="64008" cy="114300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TextBox 23"/>
          <p:cNvSpPr txBox="1"/>
          <p:nvPr/>
        </p:nvSpPr>
        <p:spPr>
          <a:xfrm>
            <a:off x="6784848" y="3703320"/>
            <a:ext cx="429767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If unhealthy</a:t>
            </a:r>
          </a:p>
        </p:txBody>
      </p:sp>
      <p:sp>
        <p:nvSpPr>
          <p:cNvPr id="25" name="TextBox 24"/>
          <p:cNvSpPr txBox="1"/>
          <p:nvPr/>
        </p:nvSpPr>
        <p:spPr>
          <a:xfrm>
            <a:off x="6784848" y="4160520"/>
            <a:ext cx="427939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The load balancer stops sending new traffic to that backend until it becomes healthy again.</a:t>
            </a:r>
          </a:p>
        </p:txBody>
      </p:sp>
      <p:sp>
        <p:nvSpPr>
          <p:cNvPr id="26" name="TextBox 25"/>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Attach Every NIC to the Backend Pool</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association uses the same VM map, so adding a VM automatically adds its NIC to the pool.</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LOAD BALANCING</a:t>
            </a:r>
          </a:p>
        </p:txBody>
      </p:sp>
      <p:sp>
        <p:nvSpPr>
          <p:cNvPr id="7" name="Rounded Rectangle 6"/>
          <p:cNvSpPr/>
          <p:nvPr/>
        </p:nvSpPr>
        <p:spPr>
          <a:xfrm>
            <a:off x="502920" y="1234440"/>
            <a:ext cx="6492240" cy="489204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667512" y="1325880"/>
            <a:ext cx="61722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association.tf</a:t>
            </a:r>
          </a:p>
        </p:txBody>
      </p:sp>
      <p:sp>
        <p:nvSpPr>
          <p:cNvPr id="9" name="TextBox 8"/>
          <p:cNvSpPr txBox="1"/>
          <p:nvPr/>
        </p:nvSpPr>
        <p:spPr>
          <a:xfrm>
            <a:off x="667512" y="1618488"/>
            <a:ext cx="6172200" cy="4370831"/>
          </a:xfrm>
          <a:prstGeom prst="rect">
            <a:avLst/>
          </a:prstGeom>
          <a:noFill/>
        </p:spPr>
        <p:txBody>
          <a:bodyPr wrap="none" lIns="38100" rIns="38100" tIns="25400" bIns="25400">
            <a:spAutoFit/>
          </a:bodyPr>
          <a:lstStyle/>
          <a:p>
            <a:pPr>
              <a:defRPr sz="1000">
                <a:solidFill>
                  <a:srgbClr val="FFFFFF"/>
                </a:solidFill>
                <a:latin typeface="Consolas"/>
              </a:defRPr>
            </a:pPr>
            <a:r>
              <a:rPr sz="1000">
                <a:solidFill>
                  <a:srgbClr val="FFFFFF"/>
                </a:solidFill>
                <a:latin typeface="Courier New"/>
              </a:rPr>
              <a:t>resource "azurerm_network_interface_backend_address_pool_association" "nic_association" {</a:t>
            </a:r>
            <a:br/>
            <a:r>
              <a:rPr sz="1000">
                <a:solidFill>
                  <a:srgbClr val="FFFFFF"/>
                </a:solidFill>
                <a:latin typeface="Courier New"/>
              </a:rPr>
              <a:t>  for_each = var.instance</a:t>
            </a:r>
            <a:br/>
            <a:br/>
            <a:r>
              <a:rPr sz="1000">
                <a:solidFill>
                  <a:srgbClr val="FFFFFF"/>
                </a:solidFill>
                <a:latin typeface="Courier New"/>
              </a:rPr>
              <a:t>  network_interface_id =</a:t>
            </a:r>
            <a:br/>
            <a:r>
              <a:rPr sz="1000">
                <a:solidFill>
                  <a:srgbClr val="FFFFFF"/>
                </a:solidFill>
                <a:latin typeface="Courier New"/>
              </a:rPr>
              <a:t>    azurerm_network_interface.web_nic[each.key].id</a:t>
            </a:r>
            <a:br/>
            <a:br/>
            <a:r>
              <a:rPr sz="1000">
                <a:solidFill>
                  <a:srgbClr val="FFFFFF"/>
                </a:solidFill>
                <a:latin typeface="Courier New"/>
              </a:rPr>
              <a:t>  ip_configuration_name =</a:t>
            </a:r>
            <a:br/>
            <a:r>
              <a:rPr sz="1000">
                <a:solidFill>
                  <a:srgbClr val="FFFFFF"/>
                </a:solidFill>
                <a:latin typeface="Courier New"/>
              </a:rPr>
              <a:t>    azurerm_network_interface.web_nic[each.key].ip_configuration[0].name</a:t>
            </a:r>
            <a:br/>
            <a:br/>
            <a:r>
              <a:rPr sz="1000">
                <a:solidFill>
                  <a:srgbClr val="FFFFFF"/>
                </a:solidFill>
                <a:latin typeface="Courier New"/>
              </a:rPr>
              <a:t>  backend_address_pool_id =</a:t>
            </a:r>
            <a:br/>
            <a:r>
              <a:rPr sz="1000">
                <a:solidFill>
                  <a:srgbClr val="FFFFFF"/>
                </a:solidFill>
                <a:latin typeface="Courier New"/>
              </a:rPr>
              <a:t>    azurerm_lb_backend_address_pool.lb_backend_pool.id</a:t>
            </a:r>
            <a:br/>
            <a:r>
              <a:rPr sz="1000">
                <a:solidFill>
                  <a:srgbClr val="FFFFFF"/>
                </a:solidFill>
                <a:latin typeface="Courier New"/>
              </a:rPr>
              <a:t>}</a:t>
            </a:r>
          </a:p>
        </p:txBody>
      </p:sp>
      <p:sp>
        <p:nvSpPr>
          <p:cNvPr id="10" name="Rounded Rectangle 9"/>
          <p:cNvSpPr/>
          <p:nvPr/>
        </p:nvSpPr>
        <p:spPr>
          <a:xfrm>
            <a:off x="7269480" y="1325880"/>
            <a:ext cx="4160520" cy="118872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269480" y="1325880"/>
            <a:ext cx="64008" cy="118872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470648" y="1463039"/>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web1</a:t>
            </a:r>
          </a:p>
        </p:txBody>
      </p:sp>
      <p:sp>
        <p:nvSpPr>
          <p:cNvPr id="13" name="TextBox 12"/>
          <p:cNvSpPr txBox="1"/>
          <p:nvPr/>
        </p:nvSpPr>
        <p:spPr>
          <a:xfrm>
            <a:off x="7470648" y="1920240"/>
            <a:ext cx="3776472" cy="47548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NIC web1 → backend pool</a:t>
            </a:r>
          </a:p>
        </p:txBody>
      </p:sp>
      <p:sp>
        <p:nvSpPr>
          <p:cNvPr id="14" name="Rounded Rectangle 13"/>
          <p:cNvSpPr/>
          <p:nvPr/>
        </p:nvSpPr>
        <p:spPr>
          <a:xfrm>
            <a:off x="7269480" y="2743200"/>
            <a:ext cx="4160520" cy="118872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269480" y="2743200"/>
            <a:ext cx="64008" cy="118872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470648" y="2880360"/>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web2</a:t>
            </a:r>
          </a:p>
        </p:txBody>
      </p:sp>
      <p:sp>
        <p:nvSpPr>
          <p:cNvPr id="17" name="TextBox 16"/>
          <p:cNvSpPr txBox="1"/>
          <p:nvPr/>
        </p:nvSpPr>
        <p:spPr>
          <a:xfrm>
            <a:off x="7470648" y="3337560"/>
            <a:ext cx="3776472" cy="47548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NIC web2 → backend pool</a:t>
            </a:r>
          </a:p>
        </p:txBody>
      </p:sp>
      <p:sp>
        <p:nvSpPr>
          <p:cNvPr id="18" name="Rounded Rectangle 17"/>
          <p:cNvSpPr/>
          <p:nvPr/>
        </p:nvSpPr>
        <p:spPr>
          <a:xfrm>
            <a:off x="7269480" y="4160520"/>
            <a:ext cx="4160520" cy="118872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269480" y="4160520"/>
            <a:ext cx="64008" cy="118872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470648" y="4297680"/>
            <a:ext cx="379475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Scaling pattern</a:t>
            </a:r>
          </a:p>
        </p:txBody>
      </p:sp>
      <p:sp>
        <p:nvSpPr>
          <p:cNvPr id="21" name="TextBox 20"/>
          <p:cNvSpPr txBox="1"/>
          <p:nvPr/>
        </p:nvSpPr>
        <p:spPr>
          <a:xfrm>
            <a:off x="7470648" y="4754880"/>
            <a:ext cx="3776472" cy="47548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Add web3 to var.instance and Terraform creates the VM, NIC and LB association.</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Load Balancer Rule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rule connects the frontend listener to the backend pool and its health probe.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LOAD BALANCING</a:t>
            </a:r>
          </a:p>
        </p:txBody>
      </p:sp>
      <p:sp>
        <p:nvSpPr>
          <p:cNvPr id="7" name="Rounded Rectangle 6"/>
          <p:cNvSpPr/>
          <p:nvPr/>
        </p:nvSpPr>
        <p:spPr>
          <a:xfrm>
            <a:off x="594360" y="1188720"/>
            <a:ext cx="6537960" cy="498348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758952" y="1280160"/>
            <a:ext cx="621792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lb_rule.tf</a:t>
            </a:r>
          </a:p>
        </p:txBody>
      </p:sp>
      <p:sp>
        <p:nvSpPr>
          <p:cNvPr id="9" name="TextBox 8"/>
          <p:cNvSpPr txBox="1"/>
          <p:nvPr/>
        </p:nvSpPr>
        <p:spPr>
          <a:xfrm>
            <a:off x="758952" y="1572768"/>
            <a:ext cx="6217920" cy="4462272"/>
          </a:xfrm>
          <a:prstGeom prst="rect">
            <a:avLst/>
          </a:prstGeom>
          <a:noFill/>
        </p:spPr>
        <p:txBody>
          <a:bodyPr wrap="none" lIns="38100" rIns="38100" tIns="25400" bIns="25400">
            <a:spAutoFit/>
          </a:bodyPr>
          <a:lstStyle/>
          <a:p>
            <a:pPr>
              <a:defRPr sz="900">
                <a:solidFill>
                  <a:srgbClr val="FFFFFF"/>
                </a:solidFill>
                <a:latin typeface="Consolas"/>
              </a:defRPr>
            </a:pPr>
            <a:r>
              <a:rPr sz="1000">
                <a:solidFill>
                  <a:srgbClr val="FFFFFF"/>
                </a:solidFill>
                <a:latin typeface="Courier New"/>
              </a:rPr>
              <a:t>resource "azurerm_lb_rule" "lb_rule" {</a:t>
            </a:r>
            <a:br/>
            <a:r>
              <a:rPr sz="1000">
                <a:solidFill>
                  <a:srgbClr val="FFFFFF"/>
                </a:solidFill>
                <a:latin typeface="Courier New"/>
              </a:rPr>
              <a:t>  loadbalancer_id = azurerm_lb.web_lb.id</a:t>
            </a:r>
            <a:br/>
            <a:r>
              <a:rPr sz="1000">
                <a:solidFill>
                  <a:srgbClr val="FFFFFF"/>
                </a:solidFill>
                <a:latin typeface="Courier New"/>
              </a:rPr>
              <a:t>  name            = "lbrule"</a:t>
            </a:r>
            <a:br/>
            <a:r>
              <a:rPr sz="1000">
                <a:solidFill>
                  <a:srgbClr val="FFFFFF"/>
                </a:solidFill>
                <a:latin typeface="Courier New"/>
              </a:rPr>
              <a:t>  protocol        = "Tcp"</a:t>
            </a:r>
            <a:br/>
            <a:br/>
            <a:r>
              <a:rPr sz="1000">
                <a:solidFill>
                  <a:srgbClr val="FFFFFF"/>
                </a:solidFill>
                <a:latin typeface="Courier New"/>
              </a:rPr>
              <a:t>  frontend_port = 80</a:t>
            </a:r>
            <a:br/>
            <a:r>
              <a:rPr sz="1000">
                <a:solidFill>
                  <a:srgbClr val="FFFFFF"/>
                </a:solidFill>
                <a:latin typeface="Courier New"/>
              </a:rPr>
              <a:t>  backend_port  = 80</a:t>
            </a:r>
            <a:br/>
            <a:br/>
            <a:r>
              <a:rPr sz="1000">
                <a:solidFill>
                  <a:srgbClr val="FFFFFF"/>
                </a:solidFill>
                <a:latin typeface="Courier New"/>
              </a:rPr>
              <a:t>  frontend_ip_configuration_name =</a:t>
            </a:r>
            <a:br/>
            <a:r>
              <a:rPr sz="1000">
                <a:solidFill>
                  <a:srgbClr val="FFFFFF"/>
                </a:solidFill>
                <a:latin typeface="Courier New"/>
              </a:rPr>
              <a:t>    azurerm_lb.web_lb.frontend_ip_configuration[0].name</a:t>
            </a:r>
            <a:br/>
            <a:br/>
            <a:r>
              <a:rPr sz="1000">
                <a:solidFill>
                  <a:srgbClr val="FFFFFF"/>
                </a:solidFill>
                <a:latin typeface="Courier New"/>
              </a:rPr>
              <a:t>  backend_address_pool_ids =</a:t>
            </a:r>
            <a:br/>
            <a:r>
              <a:rPr sz="1000">
                <a:solidFill>
                  <a:srgbClr val="FFFFFF"/>
                </a:solidFill>
                <a:latin typeface="Courier New"/>
              </a:rPr>
              <a:t>    [azurerm_lb_backend_address_pool.lb_backend_pool.id]</a:t>
            </a:r>
            <a:br/>
            <a:br/>
            <a:r>
              <a:rPr sz="1000">
                <a:solidFill>
                  <a:srgbClr val="FFFFFF"/>
                </a:solidFill>
                <a:latin typeface="Courier New"/>
              </a:rPr>
              <a:t>  probe_id = azurerm_lb_probe.lb_probe.id</a:t>
            </a:r>
            <a:br/>
            <a:r>
              <a:rPr sz="1000">
                <a:solidFill>
                  <a:srgbClr val="FFFFFF"/>
                </a:solidFill>
                <a:latin typeface="Courier New"/>
              </a:rPr>
              <a:t>}</a:t>
            </a:r>
          </a:p>
        </p:txBody>
      </p:sp>
      <p:sp>
        <p:nvSpPr>
          <p:cNvPr id="10" name="Rounded Rectangle 9"/>
          <p:cNvSpPr/>
          <p:nvPr/>
        </p:nvSpPr>
        <p:spPr>
          <a:xfrm>
            <a:off x="7452360" y="1280160"/>
            <a:ext cx="40690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452360" y="128016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653528" y="1417319"/>
            <a:ext cx="37033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Client</a:t>
            </a:r>
          </a:p>
        </p:txBody>
      </p:sp>
      <p:sp>
        <p:nvSpPr>
          <p:cNvPr id="13" name="TextBox 12"/>
          <p:cNvSpPr txBox="1"/>
          <p:nvPr/>
        </p:nvSpPr>
        <p:spPr>
          <a:xfrm>
            <a:off x="7653528" y="1874519"/>
            <a:ext cx="36850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Browser connects to LB public IP on TCP/HTTP port 80.</a:t>
            </a:r>
          </a:p>
        </p:txBody>
      </p:sp>
      <p:sp>
        <p:nvSpPr>
          <p:cNvPr id="14" name="Rounded Rectangle 13"/>
          <p:cNvSpPr/>
          <p:nvPr/>
        </p:nvSpPr>
        <p:spPr>
          <a:xfrm>
            <a:off x="7452360" y="2560320"/>
            <a:ext cx="40690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452360" y="256032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653528" y="2697479"/>
            <a:ext cx="37033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Frontend → backend</a:t>
            </a:r>
          </a:p>
        </p:txBody>
      </p:sp>
      <p:sp>
        <p:nvSpPr>
          <p:cNvPr id="17" name="TextBox 16"/>
          <p:cNvSpPr txBox="1"/>
          <p:nvPr/>
        </p:nvSpPr>
        <p:spPr>
          <a:xfrm>
            <a:off x="7653528" y="3154679"/>
            <a:ext cx="36850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Port 80 is forwarded to port 80 on healthy VM NICs.</a:t>
            </a:r>
          </a:p>
        </p:txBody>
      </p:sp>
      <p:sp>
        <p:nvSpPr>
          <p:cNvPr id="18" name="Rounded Rectangle 17"/>
          <p:cNvSpPr/>
          <p:nvPr/>
        </p:nvSpPr>
        <p:spPr>
          <a:xfrm>
            <a:off x="7452360" y="3840480"/>
            <a:ext cx="406908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452360" y="3840480"/>
            <a:ext cx="64008" cy="10972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653528" y="3977640"/>
            <a:ext cx="37033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Probe gate</a:t>
            </a:r>
          </a:p>
        </p:txBody>
      </p:sp>
      <p:sp>
        <p:nvSpPr>
          <p:cNvPr id="21" name="TextBox 20"/>
          <p:cNvSpPr txBox="1"/>
          <p:nvPr/>
        </p:nvSpPr>
        <p:spPr>
          <a:xfrm>
            <a:off x="7653528" y="4434840"/>
            <a:ext cx="368503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Only healthy endpoints participate in traffic distribution.</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Remote State in Azure Blob Storage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Store Terraform state centrally so a team or CI/CD system can share the same state.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STATE</a:t>
            </a:r>
          </a:p>
        </p:txBody>
      </p:sp>
      <p:sp>
        <p:nvSpPr>
          <p:cNvPr id="7" name="Rounded Rectangle 6"/>
          <p:cNvSpPr/>
          <p:nvPr/>
        </p:nvSpPr>
        <p:spPr>
          <a:xfrm>
            <a:off x="685800" y="1371600"/>
            <a:ext cx="5715000" cy="329184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463040"/>
            <a:ext cx="539496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backend.tf</a:t>
            </a:r>
          </a:p>
        </p:txBody>
      </p:sp>
      <p:sp>
        <p:nvSpPr>
          <p:cNvPr id="9" name="TextBox 8"/>
          <p:cNvSpPr txBox="1"/>
          <p:nvPr/>
        </p:nvSpPr>
        <p:spPr>
          <a:xfrm>
            <a:off x="850392" y="1755648"/>
            <a:ext cx="5394960" cy="277063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terraform {</a:t>
            </a:r>
            <a:br/>
            <a:r>
              <a:rPr sz="1000">
                <a:solidFill>
                  <a:srgbClr val="FFFFFF"/>
                </a:solidFill>
                <a:latin typeface="Courier New"/>
              </a:rPr>
              <a:t>  backend "azurerm" {</a:t>
            </a:r>
            <a:br/>
            <a:r>
              <a:rPr sz="1000">
                <a:solidFill>
                  <a:srgbClr val="FFFFFF"/>
                </a:solidFill>
                <a:latin typeface="Courier New"/>
              </a:rPr>
              <a:t>    resource_group_name  = "gopal-terraform-storage"</a:t>
            </a:r>
            <a:br/>
            <a:r>
              <a:rPr sz="1000">
                <a:solidFill>
                  <a:srgbClr val="FFFFFF"/>
                </a:solidFill>
                <a:latin typeface="Courier New"/>
              </a:rPr>
              <a:t>    storage_account_name = "terraformstoragegopal"</a:t>
            </a:r>
            <a:br/>
            <a:r>
              <a:rPr sz="1000">
                <a:solidFill>
                  <a:srgbClr val="FFFFFF"/>
                </a:solidFill>
                <a:latin typeface="Courier New"/>
              </a:rPr>
              <a:t>    container_name       = "tfstate"</a:t>
            </a:r>
            <a:br/>
            <a:r>
              <a:rPr sz="1000">
                <a:solidFill>
                  <a:srgbClr val="FFFFFF"/>
                </a:solidFill>
                <a:latin typeface="Courier New"/>
              </a:rPr>
              <a:t>    key                  = "kyn-project-dev.tfstate"</a:t>
            </a:r>
            <a:br/>
            <a:r>
              <a:rPr sz="1000">
                <a:solidFill>
                  <a:srgbClr val="FFFFFF"/>
                </a:solidFill>
                <a:latin typeface="Courier New"/>
              </a:rPr>
              <a:t>  }</a:t>
            </a:r>
            <a:br/>
            <a:r>
              <a:rPr sz="1000">
                <a:solidFill>
                  <a:srgbClr val="FFFFFF"/>
                </a:solidFill>
                <a:latin typeface="Courier New"/>
              </a:rPr>
              <a:t>}</a:t>
            </a:r>
          </a:p>
        </p:txBody>
      </p:sp>
      <p:sp>
        <p:nvSpPr>
          <p:cNvPr id="10" name="Rounded Rectangle 9"/>
          <p:cNvSpPr/>
          <p:nvPr/>
        </p:nvSpPr>
        <p:spPr>
          <a:xfrm>
            <a:off x="7315200" y="1371600"/>
            <a:ext cx="3200400" cy="73152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TextBox 10"/>
          <p:cNvSpPr txBox="1"/>
          <p:nvPr/>
        </p:nvSpPr>
        <p:spPr>
          <a:xfrm>
            <a:off x="7388352" y="1444752"/>
            <a:ext cx="3054096" cy="58521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Resource Group</a:t>
            </a:r>
          </a:p>
        </p:txBody>
      </p:sp>
      <p:sp>
        <p:nvSpPr>
          <p:cNvPr id="12" name="Rounded Rectangle 11"/>
          <p:cNvSpPr/>
          <p:nvPr/>
        </p:nvSpPr>
        <p:spPr>
          <a:xfrm>
            <a:off x="7315200" y="2423160"/>
            <a:ext cx="3200400" cy="73152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3" name="TextBox 12"/>
          <p:cNvSpPr txBox="1"/>
          <p:nvPr/>
        </p:nvSpPr>
        <p:spPr>
          <a:xfrm>
            <a:off x="7388352" y="2496312"/>
            <a:ext cx="3054096" cy="58521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Storage Account</a:t>
            </a:r>
          </a:p>
        </p:txBody>
      </p:sp>
      <p:sp>
        <p:nvSpPr>
          <p:cNvPr id="14" name="Rounded Rectangle 13"/>
          <p:cNvSpPr/>
          <p:nvPr/>
        </p:nvSpPr>
        <p:spPr>
          <a:xfrm>
            <a:off x="7315200" y="3474720"/>
            <a:ext cx="3200400" cy="73152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TextBox 14"/>
          <p:cNvSpPr txBox="1"/>
          <p:nvPr/>
        </p:nvSpPr>
        <p:spPr>
          <a:xfrm>
            <a:off x="7388352" y="3547872"/>
            <a:ext cx="3054096" cy="58521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Blob Container: tfstate</a:t>
            </a:r>
          </a:p>
        </p:txBody>
      </p:sp>
      <p:sp>
        <p:nvSpPr>
          <p:cNvPr id="16" name="Rounded Rectangle 15"/>
          <p:cNvSpPr/>
          <p:nvPr/>
        </p:nvSpPr>
        <p:spPr>
          <a:xfrm>
            <a:off x="7315200" y="4526280"/>
            <a:ext cx="3200400" cy="73152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7" name="TextBox 16"/>
          <p:cNvSpPr txBox="1"/>
          <p:nvPr/>
        </p:nvSpPr>
        <p:spPr>
          <a:xfrm>
            <a:off x="7388352" y="4599432"/>
            <a:ext cx="3054096" cy="58521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kyn-project-dev.tfstate</a:t>
            </a:r>
          </a:p>
        </p:txBody>
      </p:sp>
      <p:cxnSp>
        <p:nvCxnSpPr>
          <p:cNvPr id="18" name="Connector 17"/>
          <p:cNvCxnSpPr/>
          <p:nvPr/>
        </p:nvCxnSpPr>
        <p:spPr>
          <a:xfrm>
            <a:off x="8915400" y="2103120"/>
            <a:ext cx="0" cy="320040"/>
          </a:xfrm>
          <a:prstGeom prst="line">
            <a:avLst/>
          </a:prstGeom>
          <a:ln w="25400">
            <a:solidFill>
              <a:srgbClr val="2D69DC"/>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915400" y="3154680"/>
            <a:ext cx="0" cy="320040"/>
          </a:xfrm>
          <a:prstGeom prst="line">
            <a:avLst/>
          </a:prstGeom>
          <a:ln w="25400">
            <a:solidFill>
              <a:srgbClr val="2DBEC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915400" y="4206240"/>
            <a:ext cx="0" cy="320040"/>
          </a:xfrm>
          <a:prstGeom prst="line">
            <a:avLst/>
          </a:prstGeom>
          <a:ln w="25400">
            <a:solidFill>
              <a:srgbClr val="2AA56E"/>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5800" y="4892040"/>
            <a:ext cx="5715000" cy="9144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2" name="Rectangle 21"/>
          <p:cNvSpPr/>
          <p:nvPr/>
        </p:nvSpPr>
        <p:spPr>
          <a:xfrm>
            <a:off x="685800" y="4892040"/>
            <a:ext cx="64008" cy="91440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TextBox 22"/>
          <p:cNvSpPr txBox="1"/>
          <p:nvPr/>
        </p:nvSpPr>
        <p:spPr>
          <a:xfrm>
            <a:off x="886968" y="5029200"/>
            <a:ext cx="5349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Important</a:t>
            </a:r>
          </a:p>
        </p:txBody>
      </p:sp>
      <p:sp>
        <p:nvSpPr>
          <p:cNvPr id="24" name="TextBox 23"/>
          <p:cNvSpPr txBox="1"/>
          <p:nvPr/>
        </p:nvSpPr>
        <p:spPr>
          <a:xfrm>
            <a:off x="886968" y="5486400"/>
            <a:ext cx="5330952" cy="20116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Create the storage resources first; then configure the backend and run terraform init.</a:t>
            </a:r>
          </a:p>
        </p:txBody>
      </p:sp>
      <p:sp>
        <p:nvSpPr>
          <p:cNvPr id="25" name="TextBox 24"/>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Remote Backend Bootstrap — Steps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backend cannot manage the storage account that must exist before backend initialization.</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STATE</a:t>
            </a:r>
          </a:p>
        </p:txBody>
      </p:sp>
      <p:sp>
        <p:nvSpPr>
          <p:cNvPr id="7" name="Rounded Rectangle 6"/>
          <p:cNvSpPr/>
          <p:nvPr/>
        </p:nvSpPr>
        <p:spPr>
          <a:xfrm>
            <a:off x="685800" y="1417320"/>
            <a:ext cx="438912"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685800" y="143560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1</a:t>
            </a:r>
          </a:p>
        </p:txBody>
      </p:sp>
      <p:sp>
        <p:nvSpPr>
          <p:cNvPr id="9" name="Rounded Rectangle 8"/>
          <p:cNvSpPr/>
          <p:nvPr/>
        </p:nvSpPr>
        <p:spPr>
          <a:xfrm>
            <a:off x="685800" y="180136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Rectangle 9"/>
          <p:cNvSpPr/>
          <p:nvPr/>
        </p:nvSpPr>
        <p:spPr>
          <a:xfrm>
            <a:off x="685800" y="1801368"/>
            <a:ext cx="64008" cy="1234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TextBox 10"/>
          <p:cNvSpPr txBox="1"/>
          <p:nvPr/>
        </p:nvSpPr>
        <p:spPr>
          <a:xfrm>
            <a:off x="886968" y="193852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Create RG</a:t>
            </a:r>
          </a:p>
        </p:txBody>
      </p:sp>
      <p:sp>
        <p:nvSpPr>
          <p:cNvPr id="12" name="TextBox 11"/>
          <p:cNvSpPr txBox="1"/>
          <p:nvPr/>
        </p:nvSpPr>
        <p:spPr>
          <a:xfrm>
            <a:off x="886968" y="239572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gopal-terraform-storage</a:t>
            </a:r>
          </a:p>
        </p:txBody>
      </p:sp>
      <p:sp>
        <p:nvSpPr>
          <p:cNvPr id="13" name="Rounded Rectangle 12"/>
          <p:cNvSpPr/>
          <p:nvPr/>
        </p:nvSpPr>
        <p:spPr>
          <a:xfrm>
            <a:off x="4480560" y="1417320"/>
            <a:ext cx="438912"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4480560" y="143560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2</a:t>
            </a:r>
          </a:p>
        </p:txBody>
      </p:sp>
      <p:sp>
        <p:nvSpPr>
          <p:cNvPr id="15" name="Rounded Rectangle 14"/>
          <p:cNvSpPr/>
          <p:nvPr/>
        </p:nvSpPr>
        <p:spPr>
          <a:xfrm>
            <a:off x="4480560" y="180136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Rectangle 15"/>
          <p:cNvSpPr/>
          <p:nvPr/>
        </p:nvSpPr>
        <p:spPr>
          <a:xfrm>
            <a:off x="4480560" y="1801368"/>
            <a:ext cx="64008" cy="123444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7" name="TextBox 16"/>
          <p:cNvSpPr txBox="1"/>
          <p:nvPr/>
        </p:nvSpPr>
        <p:spPr>
          <a:xfrm>
            <a:off x="4681728" y="193852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Create Storage Account</a:t>
            </a:r>
          </a:p>
        </p:txBody>
      </p:sp>
      <p:sp>
        <p:nvSpPr>
          <p:cNvPr id="18" name="TextBox 17"/>
          <p:cNvSpPr txBox="1"/>
          <p:nvPr/>
        </p:nvSpPr>
        <p:spPr>
          <a:xfrm>
            <a:off x="4681728" y="239572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terraformstoragegopal</a:t>
            </a:r>
          </a:p>
        </p:txBody>
      </p:sp>
      <p:sp>
        <p:nvSpPr>
          <p:cNvPr id="19" name="Rounded Rectangle 18"/>
          <p:cNvSpPr/>
          <p:nvPr/>
        </p:nvSpPr>
        <p:spPr>
          <a:xfrm>
            <a:off x="8275320" y="1417320"/>
            <a:ext cx="438912"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8275320" y="143560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3</a:t>
            </a:r>
          </a:p>
        </p:txBody>
      </p:sp>
      <p:sp>
        <p:nvSpPr>
          <p:cNvPr id="21" name="Rounded Rectangle 20"/>
          <p:cNvSpPr/>
          <p:nvPr/>
        </p:nvSpPr>
        <p:spPr>
          <a:xfrm>
            <a:off x="8275320" y="180136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2" name="Rectangle 21"/>
          <p:cNvSpPr/>
          <p:nvPr/>
        </p:nvSpPr>
        <p:spPr>
          <a:xfrm>
            <a:off x="8275320" y="1801368"/>
            <a:ext cx="64008" cy="1234440"/>
          </a:xfrm>
          <a:prstGeom prst="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TextBox 22"/>
          <p:cNvSpPr txBox="1"/>
          <p:nvPr/>
        </p:nvSpPr>
        <p:spPr>
          <a:xfrm>
            <a:off x="8476488" y="193852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Create Blob Container</a:t>
            </a:r>
          </a:p>
        </p:txBody>
      </p:sp>
      <p:sp>
        <p:nvSpPr>
          <p:cNvPr id="24" name="TextBox 23"/>
          <p:cNvSpPr txBox="1"/>
          <p:nvPr/>
        </p:nvSpPr>
        <p:spPr>
          <a:xfrm>
            <a:off x="8476488" y="239572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tfstate</a:t>
            </a:r>
          </a:p>
        </p:txBody>
      </p:sp>
      <p:sp>
        <p:nvSpPr>
          <p:cNvPr id="25" name="Rounded Rectangle 24"/>
          <p:cNvSpPr/>
          <p:nvPr/>
        </p:nvSpPr>
        <p:spPr>
          <a:xfrm>
            <a:off x="685800" y="3429000"/>
            <a:ext cx="438912"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6" name="TextBox 25"/>
          <p:cNvSpPr txBox="1"/>
          <p:nvPr/>
        </p:nvSpPr>
        <p:spPr>
          <a:xfrm>
            <a:off x="685800" y="344728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4</a:t>
            </a:r>
          </a:p>
        </p:txBody>
      </p:sp>
      <p:sp>
        <p:nvSpPr>
          <p:cNvPr id="27" name="Rounded Rectangle 26"/>
          <p:cNvSpPr/>
          <p:nvPr/>
        </p:nvSpPr>
        <p:spPr>
          <a:xfrm>
            <a:off x="685800" y="381304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8" name="Rectangle 27"/>
          <p:cNvSpPr/>
          <p:nvPr/>
        </p:nvSpPr>
        <p:spPr>
          <a:xfrm>
            <a:off x="685800" y="3813048"/>
            <a:ext cx="64008" cy="123444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TextBox 28"/>
          <p:cNvSpPr txBox="1"/>
          <p:nvPr/>
        </p:nvSpPr>
        <p:spPr>
          <a:xfrm>
            <a:off x="886968" y="395020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Add backend.tf</a:t>
            </a:r>
          </a:p>
        </p:txBody>
      </p:sp>
      <p:sp>
        <p:nvSpPr>
          <p:cNvPr id="30" name="TextBox 29"/>
          <p:cNvSpPr txBox="1"/>
          <p:nvPr/>
        </p:nvSpPr>
        <p:spPr>
          <a:xfrm>
            <a:off x="886968" y="440740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the azurerm backend block</a:t>
            </a:r>
          </a:p>
        </p:txBody>
      </p:sp>
      <p:sp>
        <p:nvSpPr>
          <p:cNvPr id="31" name="Rounded Rectangle 30"/>
          <p:cNvSpPr/>
          <p:nvPr/>
        </p:nvSpPr>
        <p:spPr>
          <a:xfrm>
            <a:off x="4480560" y="3429000"/>
            <a:ext cx="438912"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2" name="TextBox 31"/>
          <p:cNvSpPr txBox="1"/>
          <p:nvPr/>
        </p:nvSpPr>
        <p:spPr>
          <a:xfrm>
            <a:off x="4480560" y="344728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5</a:t>
            </a:r>
          </a:p>
        </p:txBody>
      </p:sp>
      <p:sp>
        <p:nvSpPr>
          <p:cNvPr id="33" name="Rounded Rectangle 32"/>
          <p:cNvSpPr/>
          <p:nvPr/>
        </p:nvSpPr>
        <p:spPr>
          <a:xfrm>
            <a:off x="4480560" y="381304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4" name="Rectangle 33"/>
          <p:cNvSpPr/>
          <p:nvPr/>
        </p:nvSpPr>
        <p:spPr>
          <a:xfrm>
            <a:off x="4480560" y="3813048"/>
            <a:ext cx="64008" cy="123444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5" name="TextBox 34"/>
          <p:cNvSpPr txBox="1"/>
          <p:nvPr/>
        </p:nvSpPr>
        <p:spPr>
          <a:xfrm>
            <a:off x="4681728" y="395020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Initialize</a:t>
            </a:r>
          </a:p>
        </p:txBody>
      </p:sp>
      <p:sp>
        <p:nvSpPr>
          <p:cNvPr id="36" name="TextBox 35"/>
          <p:cNvSpPr txBox="1"/>
          <p:nvPr/>
        </p:nvSpPr>
        <p:spPr>
          <a:xfrm>
            <a:off x="4681728" y="440740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terraform init / reconfigure</a:t>
            </a:r>
          </a:p>
        </p:txBody>
      </p:sp>
      <p:sp>
        <p:nvSpPr>
          <p:cNvPr id="37" name="Rounded Rectangle 36"/>
          <p:cNvSpPr/>
          <p:nvPr/>
        </p:nvSpPr>
        <p:spPr>
          <a:xfrm>
            <a:off x="8275320" y="3429000"/>
            <a:ext cx="438912"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8" name="TextBox 37"/>
          <p:cNvSpPr txBox="1"/>
          <p:nvPr/>
        </p:nvSpPr>
        <p:spPr>
          <a:xfrm>
            <a:off x="8275320" y="3447288"/>
            <a:ext cx="438912"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6</a:t>
            </a:r>
          </a:p>
        </p:txBody>
      </p:sp>
      <p:sp>
        <p:nvSpPr>
          <p:cNvPr id="39" name="Rounded Rectangle 38"/>
          <p:cNvSpPr/>
          <p:nvPr/>
        </p:nvSpPr>
        <p:spPr>
          <a:xfrm>
            <a:off x="8275320" y="3813048"/>
            <a:ext cx="338328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0" name="Rectangle 39"/>
          <p:cNvSpPr/>
          <p:nvPr/>
        </p:nvSpPr>
        <p:spPr>
          <a:xfrm>
            <a:off x="8275320" y="3813048"/>
            <a:ext cx="64008" cy="123444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1" name="TextBox 40"/>
          <p:cNvSpPr txBox="1"/>
          <p:nvPr/>
        </p:nvSpPr>
        <p:spPr>
          <a:xfrm>
            <a:off x="8476488" y="3950208"/>
            <a:ext cx="301752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Verify</a:t>
            </a:r>
          </a:p>
        </p:txBody>
      </p:sp>
      <p:sp>
        <p:nvSpPr>
          <p:cNvPr id="42" name="TextBox 41"/>
          <p:cNvSpPr txBox="1"/>
          <p:nvPr/>
        </p:nvSpPr>
        <p:spPr>
          <a:xfrm>
            <a:off x="8476488" y="4407408"/>
            <a:ext cx="299923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terraform plan and inspect backend</a:t>
            </a:r>
          </a:p>
        </p:txBody>
      </p:sp>
      <p:sp>
        <p:nvSpPr>
          <p:cNvPr id="43" name="TextBox 42"/>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Outputs &amp; for Expressions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Outputs expose useful information after apply, while for expressions reshape Terraform collections.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HCL</a:t>
            </a:r>
          </a:p>
        </p:txBody>
      </p:sp>
      <p:sp>
        <p:nvSpPr>
          <p:cNvPr id="7" name="Rounded Rectangle 6"/>
          <p:cNvSpPr/>
          <p:nvPr/>
        </p:nvSpPr>
        <p:spPr>
          <a:xfrm>
            <a:off x="548640" y="1234440"/>
            <a:ext cx="6492240" cy="48006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713232" y="1325880"/>
            <a:ext cx="61722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outputs.tf</a:t>
            </a:r>
          </a:p>
        </p:txBody>
      </p:sp>
      <p:sp>
        <p:nvSpPr>
          <p:cNvPr id="9" name="TextBox 8"/>
          <p:cNvSpPr txBox="1"/>
          <p:nvPr/>
        </p:nvSpPr>
        <p:spPr>
          <a:xfrm>
            <a:off x="713232" y="1618488"/>
            <a:ext cx="6172200" cy="4279392"/>
          </a:xfrm>
          <a:prstGeom prst="rect">
            <a:avLst/>
          </a:prstGeom>
          <a:noFill/>
        </p:spPr>
        <p:txBody>
          <a:bodyPr wrap="none" lIns="38100" rIns="38100" tIns="25400" bIns="25400">
            <a:spAutoFit/>
          </a:bodyPr>
          <a:lstStyle/>
          <a:p>
            <a:pPr>
              <a:defRPr sz="900">
                <a:solidFill>
                  <a:srgbClr val="FFFFFF"/>
                </a:solidFill>
                <a:latin typeface="Consolas"/>
              </a:defRPr>
            </a:pPr>
            <a:r>
              <a:rPr sz="1000">
                <a:solidFill>
                  <a:srgbClr val="FFFFFF"/>
                </a:solidFill>
                <a:latin typeface="Courier New"/>
              </a:rPr>
              <a:t>output "vm_details" {</a:t>
            </a:r>
            <a:br/>
            <a:r>
              <a:rPr sz="1000">
                <a:solidFill>
                  <a:srgbClr val="FFFFFF"/>
                </a:solidFill>
                <a:latin typeface="Courier New"/>
              </a:rPr>
              <a:t>  value = {</a:t>
            </a:r>
            <a:br/>
            <a:r>
              <a:rPr sz="1000">
                <a:solidFill>
                  <a:srgbClr val="FFFFFF"/>
                </a:solidFill>
                <a:latin typeface="Courier New"/>
              </a:rPr>
              <a:t>    for name, vm in azurerm_linux_virtual_machine.web-vm :</a:t>
            </a:r>
            <a:br/>
            <a:r>
              <a:rPr sz="1000">
                <a:solidFill>
                  <a:srgbClr val="FFFFFF"/>
                </a:solidFill>
                <a:latin typeface="Courier New"/>
              </a:rPr>
              <a:t>    name =&gt; {</a:t>
            </a:r>
            <a:br/>
            <a:r>
              <a:rPr sz="1000">
                <a:solidFill>
                  <a:srgbClr val="FFFFFF"/>
                </a:solidFill>
                <a:latin typeface="Courier New"/>
              </a:rPr>
              <a:t>      vm_id      = vm.id</a:t>
            </a:r>
            <a:br/>
            <a:r>
              <a:rPr sz="1000">
                <a:solidFill>
                  <a:srgbClr val="FFFFFF"/>
                </a:solidFill>
                <a:latin typeface="Courier New"/>
              </a:rPr>
              <a:t>      vm_name    = vm.name</a:t>
            </a:r>
            <a:br/>
            <a:r>
              <a:rPr sz="1000">
                <a:solidFill>
                  <a:srgbClr val="FFFFFF"/>
                </a:solidFill>
                <a:latin typeface="Courier New"/>
              </a:rPr>
              <a:t>      zone       = vm.zone</a:t>
            </a:r>
            <a:br/>
            <a:r>
              <a:rPr sz="1000">
                <a:solidFill>
                  <a:srgbClr val="FFFFFF"/>
                </a:solidFill>
                <a:latin typeface="Courier New"/>
              </a:rPr>
              <a:t>      private_ip =</a:t>
            </a:r>
            <a:br/>
            <a:r>
              <a:rPr sz="1000">
                <a:solidFill>
                  <a:srgbClr val="FFFFFF"/>
                </a:solidFill>
                <a:latin typeface="Courier New"/>
              </a:rPr>
              <a:t>        azurerm_network_interface.web_nic[name].private_ip_address</a:t>
            </a:r>
            <a:br/>
            <a:r>
              <a:rPr sz="1000">
                <a:solidFill>
                  <a:srgbClr val="FFFFFF"/>
                </a:solidFill>
                <a:latin typeface="Courier New"/>
              </a:rPr>
              <a:t>    }</a:t>
            </a:r>
            <a:br/>
            <a:r>
              <a:rPr sz="1000">
                <a:solidFill>
                  <a:srgbClr val="FFFFFF"/>
                </a:solidFill>
                <a:latin typeface="Courier New"/>
              </a:rPr>
              <a:t>  }</a:t>
            </a:r>
            <a:br/>
            <a:r>
              <a:rPr sz="1000">
                <a:solidFill>
                  <a:srgbClr val="FFFFFF"/>
                </a:solidFill>
                <a:latin typeface="Courier New"/>
              </a:rPr>
              <a:t>}</a:t>
            </a:r>
            <a:br/>
            <a:br/>
            <a:r>
              <a:rPr sz="1000">
                <a:solidFill>
                  <a:srgbClr val="FFFFFF"/>
                </a:solidFill>
                <a:latin typeface="Courier New"/>
              </a:rPr>
              <a:t>output "lb_publicip" {</a:t>
            </a:r>
            <a:br/>
            <a:r>
              <a:rPr sz="1000">
                <a:solidFill>
                  <a:srgbClr val="FFFFFF"/>
                </a:solidFill>
                <a:latin typeface="Courier New"/>
              </a:rPr>
              <a:t>  value = azurerm_public_ip.lb_publicip.ip_address</a:t>
            </a:r>
            <a:br/>
            <a:r>
              <a:rPr sz="1000">
                <a:solidFill>
                  <a:srgbClr val="FFFFFF"/>
                </a:solidFill>
                <a:latin typeface="Courier New"/>
              </a:rPr>
              <a:t>}</a:t>
            </a:r>
          </a:p>
        </p:txBody>
      </p:sp>
      <p:sp>
        <p:nvSpPr>
          <p:cNvPr id="10" name="Rounded Rectangle 9"/>
          <p:cNvSpPr/>
          <p:nvPr/>
        </p:nvSpPr>
        <p:spPr>
          <a:xfrm>
            <a:off x="7315200" y="1325880"/>
            <a:ext cx="40233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7315200" y="132588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516368" y="1463039"/>
            <a:ext cx="36576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for name, vm in ...</a:t>
            </a:r>
          </a:p>
        </p:txBody>
      </p:sp>
      <p:sp>
        <p:nvSpPr>
          <p:cNvPr id="13" name="TextBox 12"/>
          <p:cNvSpPr txBox="1"/>
          <p:nvPr/>
        </p:nvSpPr>
        <p:spPr>
          <a:xfrm>
            <a:off x="7516368" y="1920240"/>
            <a:ext cx="36393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Iterate over the VM resource instances and build a map keyed by web1/web2.</a:t>
            </a:r>
          </a:p>
        </p:txBody>
      </p:sp>
      <p:sp>
        <p:nvSpPr>
          <p:cNvPr id="14" name="Rounded Rectangle 13"/>
          <p:cNvSpPr/>
          <p:nvPr/>
        </p:nvSpPr>
        <p:spPr>
          <a:xfrm>
            <a:off x="7315200" y="2606040"/>
            <a:ext cx="40233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7315200" y="260604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516368" y="2743200"/>
            <a:ext cx="36576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Private IP lookup</a:t>
            </a:r>
          </a:p>
        </p:txBody>
      </p:sp>
      <p:sp>
        <p:nvSpPr>
          <p:cNvPr id="17" name="TextBox 16"/>
          <p:cNvSpPr txBox="1"/>
          <p:nvPr/>
        </p:nvSpPr>
        <p:spPr>
          <a:xfrm>
            <a:off x="7516368" y="3200400"/>
            <a:ext cx="36393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the same map key to retrieve the matching NIC.</a:t>
            </a:r>
          </a:p>
        </p:txBody>
      </p:sp>
      <p:sp>
        <p:nvSpPr>
          <p:cNvPr id="18" name="Rounded Rectangle 17"/>
          <p:cNvSpPr/>
          <p:nvPr/>
        </p:nvSpPr>
        <p:spPr>
          <a:xfrm>
            <a:off x="7315200" y="3886200"/>
            <a:ext cx="402336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7315200" y="3886200"/>
            <a:ext cx="64008" cy="109728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516368" y="4023360"/>
            <a:ext cx="36576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LB public IP</a:t>
            </a:r>
          </a:p>
        </p:txBody>
      </p:sp>
      <p:sp>
        <p:nvSpPr>
          <p:cNvPr id="21" name="TextBox 20"/>
          <p:cNvSpPr txBox="1"/>
          <p:nvPr/>
        </p:nvSpPr>
        <p:spPr>
          <a:xfrm>
            <a:off x="7516368" y="4480560"/>
            <a:ext cx="363931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 simple scalar output makes the application endpoint easy to retrieve.</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Terraform Dependency Graph</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References create implicit dependencies; Terraform determines a safe creation order.</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OPERATIONS</a:t>
            </a:r>
          </a:p>
        </p:txBody>
      </p:sp>
      <p:sp>
        <p:nvSpPr>
          <p:cNvPr id="7" name="Rounded Rectangle 6"/>
          <p:cNvSpPr/>
          <p:nvPr/>
        </p:nvSpPr>
        <p:spPr>
          <a:xfrm>
            <a:off x="731520" y="1371600"/>
            <a:ext cx="1828800" cy="64008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804672" y="14447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Resource Group</a:t>
            </a:r>
          </a:p>
        </p:txBody>
      </p:sp>
      <p:sp>
        <p:nvSpPr>
          <p:cNvPr id="9" name="Rounded Rectangle 8"/>
          <p:cNvSpPr/>
          <p:nvPr/>
        </p:nvSpPr>
        <p:spPr>
          <a:xfrm>
            <a:off x="2926080" y="1371600"/>
            <a:ext cx="1828800" cy="64008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2999232" y="14447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VNet</a:t>
            </a:r>
          </a:p>
        </p:txBody>
      </p:sp>
      <p:sp>
        <p:nvSpPr>
          <p:cNvPr id="11" name="Rounded Rectangle 10"/>
          <p:cNvSpPr/>
          <p:nvPr/>
        </p:nvSpPr>
        <p:spPr>
          <a:xfrm>
            <a:off x="5120640" y="1371600"/>
            <a:ext cx="1828800" cy="64008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5193792" y="14447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Subnet</a:t>
            </a:r>
          </a:p>
        </p:txBody>
      </p:sp>
      <p:sp>
        <p:nvSpPr>
          <p:cNvPr id="13" name="Rounded Rectangle 12"/>
          <p:cNvSpPr/>
          <p:nvPr/>
        </p:nvSpPr>
        <p:spPr>
          <a:xfrm>
            <a:off x="7315200" y="1371600"/>
            <a:ext cx="1828800" cy="64008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7388352" y="14447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NIC</a:t>
            </a:r>
          </a:p>
        </p:txBody>
      </p:sp>
      <p:sp>
        <p:nvSpPr>
          <p:cNvPr id="15" name="Rounded Rectangle 14"/>
          <p:cNvSpPr/>
          <p:nvPr/>
        </p:nvSpPr>
        <p:spPr>
          <a:xfrm>
            <a:off x="9509760" y="1371600"/>
            <a:ext cx="1828800" cy="640080"/>
          </a:xfrm>
          <a:prstGeom prst="roundRect">
            <a:avLst/>
          </a:prstGeom>
          <a:solidFill>
            <a:srgbClr val="FFFFFF"/>
          </a:solidFill>
          <a:ln w="19050">
            <a:solidFill>
              <a:srgbClr val="7D5AD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9582912" y="14447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VM</a:t>
            </a:r>
          </a:p>
        </p:txBody>
      </p:sp>
      <p:sp>
        <p:nvSpPr>
          <p:cNvPr id="17" name="Rounded Rectangle 16"/>
          <p:cNvSpPr/>
          <p:nvPr/>
        </p:nvSpPr>
        <p:spPr>
          <a:xfrm>
            <a:off x="2926080" y="2971800"/>
            <a:ext cx="1828800" cy="64008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8" name="TextBox 17"/>
          <p:cNvSpPr txBox="1"/>
          <p:nvPr/>
        </p:nvSpPr>
        <p:spPr>
          <a:xfrm>
            <a:off x="2999232" y="30449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Public IP</a:t>
            </a:r>
          </a:p>
        </p:txBody>
      </p:sp>
      <p:sp>
        <p:nvSpPr>
          <p:cNvPr id="19" name="Rounded Rectangle 18"/>
          <p:cNvSpPr/>
          <p:nvPr/>
        </p:nvSpPr>
        <p:spPr>
          <a:xfrm>
            <a:off x="5120640" y="2971800"/>
            <a:ext cx="1828800" cy="64008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5193792" y="30449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Load Balancer</a:t>
            </a:r>
          </a:p>
        </p:txBody>
      </p:sp>
      <p:sp>
        <p:nvSpPr>
          <p:cNvPr id="21" name="Rounded Rectangle 20"/>
          <p:cNvSpPr/>
          <p:nvPr/>
        </p:nvSpPr>
        <p:spPr>
          <a:xfrm>
            <a:off x="7315200" y="2971800"/>
            <a:ext cx="1828800" cy="640080"/>
          </a:xfrm>
          <a:prstGeom prst="roundRect">
            <a:avLst/>
          </a:prstGeom>
          <a:solidFill>
            <a:srgbClr val="FFFFFF"/>
          </a:solidFill>
          <a:ln w="19050">
            <a:solidFill>
              <a:srgbClr val="7D5AD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2" name="TextBox 21"/>
          <p:cNvSpPr txBox="1"/>
          <p:nvPr/>
        </p:nvSpPr>
        <p:spPr>
          <a:xfrm>
            <a:off x="7388352" y="30449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Backend Pool</a:t>
            </a:r>
          </a:p>
        </p:txBody>
      </p:sp>
      <p:sp>
        <p:nvSpPr>
          <p:cNvPr id="23" name="Rounded Rectangle 22"/>
          <p:cNvSpPr/>
          <p:nvPr/>
        </p:nvSpPr>
        <p:spPr>
          <a:xfrm>
            <a:off x="9509760" y="2971800"/>
            <a:ext cx="1828800" cy="640080"/>
          </a:xfrm>
          <a:prstGeom prst="roundRect">
            <a:avLst/>
          </a:prstGeom>
          <a:solidFill>
            <a:srgbClr val="FFFFFF"/>
          </a:solidFill>
          <a:ln w="19050">
            <a:solidFill>
              <a:srgbClr val="DC4E4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TextBox 23"/>
          <p:cNvSpPr txBox="1"/>
          <p:nvPr/>
        </p:nvSpPr>
        <p:spPr>
          <a:xfrm>
            <a:off x="9582912" y="30449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LB Rule</a:t>
            </a:r>
          </a:p>
        </p:txBody>
      </p:sp>
      <p:sp>
        <p:nvSpPr>
          <p:cNvPr id="25" name="Rounded Rectangle 24"/>
          <p:cNvSpPr/>
          <p:nvPr/>
        </p:nvSpPr>
        <p:spPr>
          <a:xfrm>
            <a:off x="7315200" y="4572000"/>
            <a:ext cx="1828800" cy="640080"/>
          </a:xfrm>
          <a:prstGeom prst="roundRect">
            <a:avLst/>
          </a:prstGeom>
          <a:solidFill>
            <a:srgbClr val="FFFFFF"/>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6" name="TextBox 25"/>
          <p:cNvSpPr txBox="1"/>
          <p:nvPr/>
        </p:nvSpPr>
        <p:spPr>
          <a:xfrm>
            <a:off x="7388352" y="4645152"/>
            <a:ext cx="1682496" cy="493775"/>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Probe</a:t>
            </a:r>
          </a:p>
        </p:txBody>
      </p:sp>
      <p:cxnSp>
        <p:nvCxnSpPr>
          <p:cNvPr id="27" name="Connector 26"/>
          <p:cNvCxnSpPr/>
          <p:nvPr/>
        </p:nvCxnSpPr>
        <p:spPr>
          <a:xfrm>
            <a:off x="2560320" y="16916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4754880" y="16916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6949440" y="16916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144000" y="16916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840480" y="2011680"/>
            <a:ext cx="0" cy="96012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72000" y="3291840"/>
            <a:ext cx="54864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949440" y="32918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144000" y="3291840"/>
            <a:ext cx="36576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229600" y="3657600"/>
            <a:ext cx="0" cy="91440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777240" y="5532120"/>
            <a:ext cx="10424160" cy="59436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7" name="Rectangle 36"/>
          <p:cNvSpPr/>
          <p:nvPr/>
        </p:nvSpPr>
        <p:spPr>
          <a:xfrm>
            <a:off x="777240" y="5532120"/>
            <a:ext cx="64008" cy="59436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8" name="TextBox 37"/>
          <p:cNvSpPr txBox="1"/>
          <p:nvPr/>
        </p:nvSpPr>
        <p:spPr>
          <a:xfrm>
            <a:off x="978408" y="5669280"/>
            <a:ext cx="1005840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Key idea</a:t>
            </a:r>
          </a:p>
        </p:txBody>
      </p:sp>
      <p:sp>
        <p:nvSpPr>
          <p:cNvPr id="39" name="TextBox 38"/>
          <p:cNvSpPr txBox="1"/>
          <p:nvPr/>
        </p:nvSpPr>
        <p:spPr>
          <a:xfrm>
            <a:off x="978408" y="6126480"/>
            <a:ext cx="10040112" cy="-118872"/>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You normally do not need depends_on when resource references already express the dependency.</a:t>
            </a:r>
          </a:p>
        </p:txBody>
      </p:sp>
      <p:sp>
        <p:nvSpPr>
          <p:cNvPr id="40" name="TextBox 39"/>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Terraform Workflow</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Use the standard lifecycle from configuration to deployment and controlled teardown.</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OPERATIONS</a:t>
            </a:r>
          </a:p>
        </p:txBody>
      </p:sp>
      <p:sp>
        <p:nvSpPr>
          <p:cNvPr id="7" name="Rounded Rectangle 6"/>
          <p:cNvSpPr/>
          <p:nvPr/>
        </p:nvSpPr>
        <p:spPr>
          <a:xfrm>
            <a:off x="731520" y="1234440"/>
            <a:ext cx="196596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731520" y="1252728"/>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fmt</a:t>
            </a:r>
          </a:p>
        </p:txBody>
      </p:sp>
      <p:sp>
        <p:nvSpPr>
          <p:cNvPr id="9" name="TextBox 8"/>
          <p:cNvSpPr txBox="1"/>
          <p:nvPr/>
        </p:nvSpPr>
        <p:spPr>
          <a:xfrm>
            <a:off x="2971800" y="1261872"/>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Format HCL</a:t>
            </a:r>
          </a:p>
        </p:txBody>
      </p:sp>
      <p:cxnSp>
        <p:nvCxnSpPr>
          <p:cNvPr id="10" name="Connector 9"/>
          <p:cNvCxnSpPr/>
          <p:nvPr/>
        </p:nvCxnSpPr>
        <p:spPr>
          <a:xfrm>
            <a:off x="1719072" y="1545336"/>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31520" y="1892808"/>
            <a:ext cx="1965960" cy="310896"/>
          </a:xfrm>
          <a:prstGeom prst="round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731520" y="1911096"/>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init</a:t>
            </a:r>
          </a:p>
        </p:txBody>
      </p:sp>
      <p:sp>
        <p:nvSpPr>
          <p:cNvPr id="13" name="TextBox 12"/>
          <p:cNvSpPr txBox="1"/>
          <p:nvPr/>
        </p:nvSpPr>
        <p:spPr>
          <a:xfrm>
            <a:off x="2971800" y="1920240"/>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Install provider + configure backend</a:t>
            </a:r>
          </a:p>
        </p:txBody>
      </p:sp>
      <p:cxnSp>
        <p:nvCxnSpPr>
          <p:cNvPr id="14" name="Connector 13"/>
          <p:cNvCxnSpPr/>
          <p:nvPr/>
        </p:nvCxnSpPr>
        <p:spPr>
          <a:xfrm>
            <a:off x="1719072" y="2203704"/>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1520" y="2551176"/>
            <a:ext cx="1965960" cy="310896"/>
          </a:xfrm>
          <a:prstGeom prst="round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731520" y="2569464"/>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validate</a:t>
            </a:r>
          </a:p>
        </p:txBody>
      </p:sp>
      <p:sp>
        <p:nvSpPr>
          <p:cNvPr id="17" name="TextBox 16"/>
          <p:cNvSpPr txBox="1"/>
          <p:nvPr/>
        </p:nvSpPr>
        <p:spPr>
          <a:xfrm>
            <a:off x="2971800" y="2578608"/>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Check configuration syntax and schema</a:t>
            </a:r>
          </a:p>
        </p:txBody>
      </p:sp>
      <p:cxnSp>
        <p:nvCxnSpPr>
          <p:cNvPr id="18" name="Connector 17"/>
          <p:cNvCxnSpPr/>
          <p:nvPr/>
        </p:nvCxnSpPr>
        <p:spPr>
          <a:xfrm>
            <a:off x="1719072" y="2862072"/>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31520" y="3209544"/>
            <a:ext cx="1965960" cy="310896"/>
          </a:xfrm>
          <a:prstGeom prst="round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31520" y="3227832"/>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plan</a:t>
            </a:r>
          </a:p>
        </p:txBody>
      </p:sp>
      <p:sp>
        <p:nvSpPr>
          <p:cNvPr id="21" name="TextBox 20"/>
          <p:cNvSpPr txBox="1"/>
          <p:nvPr/>
        </p:nvSpPr>
        <p:spPr>
          <a:xfrm>
            <a:off x="2971800" y="3236976"/>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Preview proposed changes</a:t>
            </a:r>
          </a:p>
        </p:txBody>
      </p:sp>
      <p:cxnSp>
        <p:nvCxnSpPr>
          <p:cNvPr id="22" name="Connector 21"/>
          <p:cNvCxnSpPr/>
          <p:nvPr/>
        </p:nvCxnSpPr>
        <p:spPr>
          <a:xfrm>
            <a:off x="1719072" y="3520440"/>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1520" y="3867912"/>
            <a:ext cx="1965960" cy="310896"/>
          </a:xfrm>
          <a:prstGeom prst="round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TextBox 23"/>
          <p:cNvSpPr txBox="1"/>
          <p:nvPr/>
        </p:nvSpPr>
        <p:spPr>
          <a:xfrm>
            <a:off x="731520" y="3886200"/>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apply</a:t>
            </a:r>
          </a:p>
        </p:txBody>
      </p:sp>
      <p:sp>
        <p:nvSpPr>
          <p:cNvPr id="25" name="TextBox 24"/>
          <p:cNvSpPr txBox="1"/>
          <p:nvPr/>
        </p:nvSpPr>
        <p:spPr>
          <a:xfrm>
            <a:off x="2971800" y="3895344"/>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Create/update Azure resources</a:t>
            </a:r>
          </a:p>
        </p:txBody>
      </p:sp>
      <p:cxnSp>
        <p:nvCxnSpPr>
          <p:cNvPr id="26" name="Connector 25"/>
          <p:cNvCxnSpPr/>
          <p:nvPr/>
        </p:nvCxnSpPr>
        <p:spPr>
          <a:xfrm>
            <a:off x="1719072" y="4178808"/>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1520" y="4526279"/>
            <a:ext cx="1965960" cy="310896"/>
          </a:xfrm>
          <a:prstGeom prst="round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8" name="TextBox 27"/>
          <p:cNvSpPr txBox="1"/>
          <p:nvPr/>
        </p:nvSpPr>
        <p:spPr>
          <a:xfrm>
            <a:off x="731520" y="4544567"/>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output</a:t>
            </a:r>
          </a:p>
        </p:txBody>
      </p:sp>
      <p:sp>
        <p:nvSpPr>
          <p:cNvPr id="29" name="TextBox 28"/>
          <p:cNvSpPr txBox="1"/>
          <p:nvPr/>
        </p:nvSpPr>
        <p:spPr>
          <a:xfrm>
            <a:off x="2971800" y="4553712"/>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Read useful endpoint details</a:t>
            </a:r>
          </a:p>
        </p:txBody>
      </p:sp>
      <p:cxnSp>
        <p:nvCxnSpPr>
          <p:cNvPr id="30" name="Connector 29"/>
          <p:cNvCxnSpPr/>
          <p:nvPr/>
        </p:nvCxnSpPr>
        <p:spPr>
          <a:xfrm>
            <a:off x="1719072" y="4837175"/>
            <a:ext cx="0" cy="347472"/>
          </a:xfrm>
          <a:prstGeom prst="line">
            <a:avLst/>
          </a:prstGeom>
          <a:ln w="19050">
            <a:solidFill>
              <a:srgbClr val="69768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31520" y="5184648"/>
            <a:ext cx="1965960" cy="310896"/>
          </a:xfrm>
          <a:prstGeom prst="round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2" name="TextBox 31"/>
          <p:cNvSpPr txBox="1"/>
          <p:nvPr/>
        </p:nvSpPr>
        <p:spPr>
          <a:xfrm>
            <a:off x="731520" y="5202936"/>
            <a:ext cx="1965960" cy="237744"/>
          </a:xfrm>
          <a:prstGeom prst="rect">
            <a:avLst/>
          </a:prstGeom>
          <a:noFill/>
        </p:spPr>
        <p:txBody>
          <a:bodyPr wrap="square" lIns="38100" rIns="38100" tIns="25400" bIns="25400">
            <a:spAutoFit/>
          </a:bodyPr>
          <a:lstStyle/>
          <a:p>
            <a:pPr algn="ctr">
              <a:defRPr sz="900" b="1">
                <a:solidFill>
                  <a:srgbClr val="FFFFFF"/>
                </a:solidFill>
              </a:defRPr>
            </a:pPr>
            <a:r>
              <a:rPr sz="1100">
                <a:solidFill>
                  <a:srgbClr val="232A37"/>
                </a:solidFill>
                <a:latin typeface="Arial"/>
              </a:rPr>
              <a:t>terraform destroy</a:t>
            </a:r>
          </a:p>
        </p:txBody>
      </p:sp>
      <p:sp>
        <p:nvSpPr>
          <p:cNvPr id="33" name="TextBox 32"/>
          <p:cNvSpPr txBox="1"/>
          <p:nvPr/>
        </p:nvSpPr>
        <p:spPr>
          <a:xfrm>
            <a:off x="2971800" y="5212080"/>
            <a:ext cx="7772400" cy="320040"/>
          </a:xfrm>
          <a:prstGeom prst="rect">
            <a:avLst/>
          </a:prstGeom>
          <a:noFill/>
        </p:spPr>
        <p:txBody>
          <a:bodyPr wrap="square" lIns="38100" rIns="38100" tIns="25400" bIns="25400">
            <a:spAutoFit/>
          </a:bodyPr>
          <a:lstStyle/>
          <a:p>
            <a:pPr>
              <a:defRPr sz="1300">
                <a:solidFill>
                  <a:srgbClr val="232A37"/>
                </a:solidFill>
              </a:defRPr>
            </a:pPr>
            <a:r>
              <a:rPr sz="1100">
                <a:solidFill>
                  <a:srgbClr val="232A37"/>
                </a:solidFill>
                <a:latin typeface="Arial"/>
              </a:rPr>
              <a:t>Remove managed infrastructure</a:t>
            </a:r>
          </a:p>
        </p:txBody>
      </p:sp>
      <p:sp>
        <p:nvSpPr>
          <p:cNvPr id="34" name="TextBox 33"/>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Useful Azure &amp; Terraform Commands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A compact command reference for the lab.</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OPERATIONS</a:t>
            </a:r>
          </a:p>
        </p:txBody>
      </p:sp>
      <p:sp>
        <p:nvSpPr>
          <p:cNvPr id="7" name="Rounded Rectangle 6"/>
          <p:cNvSpPr/>
          <p:nvPr/>
        </p:nvSpPr>
        <p:spPr>
          <a:xfrm>
            <a:off x="685800" y="1325880"/>
            <a:ext cx="4983480" cy="448056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50392" y="1417320"/>
            <a:ext cx="466344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TERRAFORM</a:t>
            </a:r>
          </a:p>
        </p:txBody>
      </p:sp>
      <p:sp>
        <p:nvSpPr>
          <p:cNvPr id="9" name="TextBox 8"/>
          <p:cNvSpPr txBox="1"/>
          <p:nvPr/>
        </p:nvSpPr>
        <p:spPr>
          <a:xfrm>
            <a:off x="850392" y="1709928"/>
            <a:ext cx="4663440" cy="3959352"/>
          </a:xfrm>
          <a:prstGeom prst="rect">
            <a:avLst/>
          </a:prstGeom>
          <a:noFill/>
        </p:spPr>
        <p:txBody>
          <a:bodyPr wrap="none" lIns="38100" rIns="38100" tIns="25400" bIns="25400">
            <a:spAutoFit/>
          </a:bodyPr>
          <a:lstStyle/>
          <a:p>
            <a:pPr>
              <a:defRPr sz="1400">
                <a:solidFill>
                  <a:srgbClr val="FFFFFF"/>
                </a:solidFill>
                <a:latin typeface="Consolas"/>
              </a:defRPr>
            </a:pPr>
            <a:r>
              <a:rPr sz="1000">
                <a:solidFill>
                  <a:srgbClr val="FFFFFF"/>
                </a:solidFill>
                <a:latin typeface="Courier New"/>
              </a:rPr>
              <a:t>terraform init</a:t>
            </a:r>
            <a:br/>
            <a:r>
              <a:rPr sz="1000">
                <a:solidFill>
                  <a:srgbClr val="FFFFFF"/>
                </a:solidFill>
                <a:latin typeface="Courier New"/>
              </a:rPr>
              <a:t>terraform fmt -recursive</a:t>
            </a:r>
            <a:br/>
            <a:r>
              <a:rPr sz="1000">
                <a:solidFill>
                  <a:srgbClr val="FFFFFF"/>
                </a:solidFill>
                <a:latin typeface="Courier New"/>
              </a:rPr>
              <a:t>terraform validate</a:t>
            </a:r>
            <a:br/>
            <a:r>
              <a:rPr sz="1000">
                <a:solidFill>
                  <a:srgbClr val="FFFFFF"/>
                </a:solidFill>
                <a:latin typeface="Courier New"/>
              </a:rPr>
              <a:t>terraform plan</a:t>
            </a:r>
            <a:br/>
            <a:r>
              <a:rPr sz="1000">
                <a:solidFill>
                  <a:srgbClr val="FFFFFF"/>
                </a:solidFill>
                <a:latin typeface="Courier New"/>
              </a:rPr>
              <a:t>terraform apply</a:t>
            </a:r>
            <a:br/>
            <a:r>
              <a:rPr sz="1000">
                <a:solidFill>
                  <a:srgbClr val="FFFFFF"/>
                </a:solidFill>
                <a:latin typeface="Courier New"/>
              </a:rPr>
              <a:t>terraform output</a:t>
            </a:r>
            <a:br/>
            <a:r>
              <a:rPr sz="1000">
                <a:solidFill>
                  <a:srgbClr val="FFFFFF"/>
                </a:solidFill>
                <a:latin typeface="Courier New"/>
              </a:rPr>
              <a:t>terraform state list</a:t>
            </a:r>
            <a:br/>
            <a:r>
              <a:rPr sz="1000">
                <a:solidFill>
                  <a:srgbClr val="FFFFFF"/>
                </a:solidFill>
                <a:latin typeface="Courier New"/>
              </a:rPr>
              <a:t>terraform show</a:t>
            </a:r>
            <a:br/>
            <a:r>
              <a:rPr sz="1000">
                <a:solidFill>
                  <a:srgbClr val="FFFFFF"/>
                </a:solidFill>
                <a:latin typeface="Courier New"/>
              </a:rPr>
              <a:t>terraform destroy</a:t>
            </a:r>
          </a:p>
        </p:txBody>
      </p:sp>
      <p:sp>
        <p:nvSpPr>
          <p:cNvPr id="10" name="Rounded Rectangle 9"/>
          <p:cNvSpPr/>
          <p:nvPr/>
        </p:nvSpPr>
        <p:spPr>
          <a:xfrm>
            <a:off x="6080760" y="1325880"/>
            <a:ext cx="4983480" cy="448056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11" name="TextBox 10"/>
          <p:cNvSpPr txBox="1"/>
          <p:nvPr/>
        </p:nvSpPr>
        <p:spPr>
          <a:xfrm>
            <a:off x="6245352" y="1417320"/>
            <a:ext cx="466344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AZURE CLI</a:t>
            </a:r>
          </a:p>
        </p:txBody>
      </p:sp>
      <p:sp>
        <p:nvSpPr>
          <p:cNvPr id="12" name="TextBox 11"/>
          <p:cNvSpPr txBox="1"/>
          <p:nvPr/>
        </p:nvSpPr>
        <p:spPr>
          <a:xfrm>
            <a:off x="6245352" y="1709928"/>
            <a:ext cx="4663440" cy="3959352"/>
          </a:xfrm>
          <a:prstGeom prst="rect">
            <a:avLst/>
          </a:prstGeom>
          <a:noFill/>
        </p:spPr>
        <p:txBody>
          <a:bodyPr wrap="none" lIns="38100" rIns="38100" tIns="25400" bIns="25400">
            <a:spAutoFit/>
          </a:bodyPr>
          <a:lstStyle/>
          <a:p>
            <a:pPr>
              <a:defRPr sz="1200">
                <a:solidFill>
                  <a:srgbClr val="FFFFFF"/>
                </a:solidFill>
                <a:latin typeface="Consolas"/>
              </a:defRPr>
            </a:pPr>
            <a:r>
              <a:rPr sz="1000">
                <a:solidFill>
                  <a:srgbClr val="FFFFFF"/>
                </a:solidFill>
                <a:latin typeface="Courier New"/>
              </a:rPr>
              <a:t>az account show</a:t>
            </a:r>
            <a:br/>
            <a:r>
              <a:rPr sz="1000">
                <a:solidFill>
                  <a:srgbClr val="FFFFFF"/>
                </a:solidFill>
                <a:latin typeface="Courier New"/>
              </a:rPr>
              <a:t>az group list -o table</a:t>
            </a:r>
            <a:br/>
            <a:r>
              <a:rPr sz="1000">
                <a:solidFill>
                  <a:srgbClr val="FFFFFF"/>
                </a:solidFill>
                <a:latin typeface="Courier New"/>
              </a:rPr>
              <a:t>az vm list -o table</a:t>
            </a:r>
            <a:br/>
            <a:r>
              <a:rPr sz="1000">
                <a:solidFill>
                  <a:srgbClr val="FFFFFF"/>
                </a:solidFill>
                <a:latin typeface="Courier New"/>
              </a:rPr>
              <a:t>az network vnet list -o table</a:t>
            </a:r>
            <a:br/>
            <a:r>
              <a:rPr sz="1000">
                <a:solidFill>
                  <a:srgbClr val="FFFFFF"/>
                </a:solidFill>
                <a:latin typeface="Courier New"/>
              </a:rPr>
              <a:t>az network nsg list -o table</a:t>
            </a:r>
            <a:br/>
            <a:r>
              <a:rPr sz="1000">
                <a:solidFill>
                  <a:srgbClr val="FFFFFF"/>
                </a:solidFill>
                <a:latin typeface="Courier New"/>
              </a:rPr>
              <a:t>az network lb list -o table</a:t>
            </a:r>
            <a:br/>
            <a:r>
              <a:rPr sz="1000">
                <a:solidFill>
                  <a:srgbClr val="FFFFFF"/>
                </a:solidFill>
                <a:latin typeface="Courier New"/>
              </a:rPr>
              <a:t>az network public-ip list -o table</a:t>
            </a:r>
          </a:p>
        </p:txBody>
      </p:sp>
      <p:sp>
        <p:nvSpPr>
          <p:cNvPr id="13" name="TextBox 12"/>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Targeted Destroy &amp; Resource Addresses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With for_each, resource addresses include the map key. Use the exact address when targeting a single instance.</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OPERATIONS</a:t>
            </a:r>
          </a:p>
        </p:txBody>
      </p:sp>
      <p:sp>
        <p:nvSpPr>
          <p:cNvPr id="7" name="Rounded Rectangle 6"/>
          <p:cNvSpPr/>
          <p:nvPr/>
        </p:nvSpPr>
        <p:spPr>
          <a:xfrm>
            <a:off x="731520" y="1371600"/>
            <a:ext cx="5120640" cy="201168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8" name="TextBox 7"/>
          <p:cNvSpPr txBox="1"/>
          <p:nvPr/>
        </p:nvSpPr>
        <p:spPr>
          <a:xfrm>
            <a:off x="896112" y="1463040"/>
            <a:ext cx="48006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EXAMPLE</a:t>
            </a:r>
          </a:p>
        </p:txBody>
      </p:sp>
      <p:sp>
        <p:nvSpPr>
          <p:cNvPr id="9" name="TextBox 8"/>
          <p:cNvSpPr txBox="1"/>
          <p:nvPr/>
        </p:nvSpPr>
        <p:spPr>
          <a:xfrm>
            <a:off x="896112" y="1755648"/>
            <a:ext cx="4800600" cy="1490472"/>
          </a:xfrm>
          <a:prstGeom prst="rect">
            <a:avLst/>
          </a:prstGeom>
          <a:noFill/>
        </p:spPr>
        <p:txBody>
          <a:bodyPr wrap="none" lIns="38100" rIns="38100" tIns="25400" bIns="25400">
            <a:spAutoFit/>
          </a:bodyPr>
          <a:lstStyle/>
          <a:p>
            <a:pPr>
              <a:defRPr sz="1300">
                <a:solidFill>
                  <a:srgbClr val="FFFFFF"/>
                </a:solidFill>
                <a:latin typeface="Consolas"/>
              </a:defRPr>
            </a:pPr>
            <a:r>
              <a:rPr sz="1000">
                <a:solidFill>
                  <a:srgbClr val="FFFFFF"/>
                </a:solidFill>
                <a:latin typeface="Courier New"/>
              </a:rPr>
              <a:t>terraform state list</a:t>
            </a:r>
            <a:br/>
            <a:br/>
            <a:r>
              <a:rPr sz="1000">
                <a:solidFill>
                  <a:srgbClr val="FFFFFF"/>
                </a:solidFill>
                <a:latin typeface="Courier New"/>
              </a:rPr>
              <a:t>terraform destroy -target='azurerm_linux_virtual_machine.web-vm["web1"]'</a:t>
            </a:r>
          </a:p>
        </p:txBody>
      </p:sp>
      <p:sp>
        <p:nvSpPr>
          <p:cNvPr id="10" name="Rounded Rectangle 9"/>
          <p:cNvSpPr/>
          <p:nvPr/>
        </p:nvSpPr>
        <p:spPr>
          <a:xfrm>
            <a:off x="6263640" y="1371600"/>
            <a:ext cx="457200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Rectangle 10"/>
          <p:cNvSpPr/>
          <p:nvPr/>
        </p:nvSpPr>
        <p:spPr>
          <a:xfrm>
            <a:off x="6263640" y="1371600"/>
            <a:ext cx="64008" cy="109728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464807" y="1508760"/>
            <a:ext cx="4206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Resource address</a:t>
            </a:r>
          </a:p>
        </p:txBody>
      </p:sp>
      <p:sp>
        <p:nvSpPr>
          <p:cNvPr id="13" name="TextBox 12"/>
          <p:cNvSpPr txBox="1"/>
          <p:nvPr/>
        </p:nvSpPr>
        <p:spPr>
          <a:xfrm>
            <a:off x="6464807" y="1965960"/>
            <a:ext cx="418795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azurerm_linux_virtual_machine.web-vm["web1"]</a:t>
            </a:r>
          </a:p>
        </p:txBody>
      </p:sp>
      <p:sp>
        <p:nvSpPr>
          <p:cNvPr id="14" name="Rounded Rectangle 13"/>
          <p:cNvSpPr/>
          <p:nvPr/>
        </p:nvSpPr>
        <p:spPr>
          <a:xfrm>
            <a:off x="6263640" y="2697480"/>
            <a:ext cx="457200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5" name="Rectangle 14"/>
          <p:cNvSpPr/>
          <p:nvPr/>
        </p:nvSpPr>
        <p:spPr>
          <a:xfrm>
            <a:off x="6263640" y="2697480"/>
            <a:ext cx="64008" cy="109728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TextBox 15"/>
          <p:cNvSpPr txBox="1"/>
          <p:nvPr/>
        </p:nvSpPr>
        <p:spPr>
          <a:xfrm>
            <a:off x="6464807" y="2834640"/>
            <a:ext cx="4206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Important</a:t>
            </a:r>
          </a:p>
        </p:txBody>
      </p:sp>
      <p:sp>
        <p:nvSpPr>
          <p:cNvPr id="17" name="TextBox 16"/>
          <p:cNvSpPr txBox="1"/>
          <p:nvPr/>
        </p:nvSpPr>
        <p:spPr>
          <a:xfrm>
            <a:off x="6464807" y="3291840"/>
            <a:ext cx="418795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-target is intended for exceptional cases, recovery or focused operations—not normal day-to-day lifecycle management.</a:t>
            </a:r>
          </a:p>
        </p:txBody>
      </p:sp>
      <p:sp>
        <p:nvSpPr>
          <p:cNvPr id="18" name="Rounded Rectangle 17"/>
          <p:cNvSpPr/>
          <p:nvPr/>
        </p:nvSpPr>
        <p:spPr>
          <a:xfrm>
            <a:off x="6263640" y="4023360"/>
            <a:ext cx="457200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263640" y="4023360"/>
            <a:ext cx="64008" cy="109728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6464807" y="4160520"/>
            <a:ext cx="42062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Safer habit</a:t>
            </a:r>
          </a:p>
        </p:txBody>
      </p:sp>
      <p:sp>
        <p:nvSpPr>
          <p:cNvPr id="21" name="TextBox 20"/>
          <p:cNvSpPr txBox="1"/>
          <p:nvPr/>
        </p:nvSpPr>
        <p:spPr>
          <a:xfrm>
            <a:off x="6464807" y="4617720"/>
            <a:ext cx="418795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Run terraform plan first and verify exactly what will change.</a:t>
            </a:r>
          </a:p>
        </p:txBody>
      </p:sp>
      <p:sp>
        <p:nvSpPr>
          <p:cNvPr id="22" name="TextBox 21"/>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Production Hardening Checklist</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lab configuration is intentionally simple; production environments should tighten security and operations.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BEST PRACTICES</a:t>
            </a:r>
          </a:p>
        </p:txBody>
      </p:sp>
      <p:sp>
        <p:nvSpPr>
          <p:cNvPr id="7" name="Rounded Rectangle 6"/>
          <p:cNvSpPr/>
          <p:nvPr/>
        </p:nvSpPr>
        <p:spPr>
          <a:xfrm>
            <a:off x="594360" y="132588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Rectangle 7"/>
          <p:cNvSpPr/>
          <p:nvPr/>
        </p:nvSpPr>
        <p:spPr>
          <a:xfrm>
            <a:off x="594360" y="1325880"/>
            <a:ext cx="64008" cy="1234440"/>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9" name="TextBox 8"/>
          <p:cNvSpPr txBox="1"/>
          <p:nvPr/>
        </p:nvSpPr>
        <p:spPr>
          <a:xfrm>
            <a:off x="795528" y="1463039"/>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NSG sources</a:t>
            </a:r>
          </a:p>
        </p:txBody>
      </p:sp>
      <p:sp>
        <p:nvSpPr>
          <p:cNvPr id="10" name="TextBox 9"/>
          <p:cNvSpPr txBox="1"/>
          <p:nvPr/>
        </p:nvSpPr>
        <p:spPr>
          <a:xfrm>
            <a:off x="795528" y="192024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Avoid source_address_prefix = "*" for administrative ports such as SSH.</a:t>
            </a:r>
          </a:p>
        </p:txBody>
      </p:sp>
      <p:sp>
        <p:nvSpPr>
          <p:cNvPr id="11" name="Rounded Rectangle 10"/>
          <p:cNvSpPr/>
          <p:nvPr/>
        </p:nvSpPr>
        <p:spPr>
          <a:xfrm>
            <a:off x="6309360" y="132588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Rectangle 11"/>
          <p:cNvSpPr/>
          <p:nvPr/>
        </p:nvSpPr>
        <p:spPr>
          <a:xfrm>
            <a:off x="6309360" y="1325880"/>
            <a:ext cx="64008" cy="123444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3" name="TextBox 12"/>
          <p:cNvSpPr txBox="1"/>
          <p:nvPr/>
        </p:nvSpPr>
        <p:spPr>
          <a:xfrm>
            <a:off x="6510528" y="1463039"/>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Secrets</a:t>
            </a:r>
          </a:p>
        </p:txBody>
      </p:sp>
      <p:sp>
        <p:nvSpPr>
          <p:cNvPr id="14" name="TextBox 13"/>
          <p:cNvSpPr txBox="1"/>
          <p:nvPr/>
        </p:nvSpPr>
        <p:spPr>
          <a:xfrm>
            <a:off x="6510528" y="192024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managed identity, Key Vault or secure CI/CD secret stores; never commit private keys.</a:t>
            </a:r>
          </a:p>
        </p:txBody>
      </p:sp>
      <p:sp>
        <p:nvSpPr>
          <p:cNvPr id="15" name="Rounded Rectangle 14"/>
          <p:cNvSpPr/>
          <p:nvPr/>
        </p:nvSpPr>
        <p:spPr>
          <a:xfrm>
            <a:off x="594360" y="288036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Rectangle 15"/>
          <p:cNvSpPr/>
          <p:nvPr/>
        </p:nvSpPr>
        <p:spPr>
          <a:xfrm>
            <a:off x="594360" y="2880360"/>
            <a:ext cx="64008" cy="1234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7" name="TextBox 16"/>
          <p:cNvSpPr txBox="1"/>
          <p:nvPr/>
        </p:nvSpPr>
        <p:spPr>
          <a:xfrm>
            <a:off x="795528" y="3017520"/>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Backend security</a:t>
            </a:r>
          </a:p>
        </p:txBody>
      </p:sp>
      <p:sp>
        <p:nvSpPr>
          <p:cNvPr id="18" name="TextBox 17"/>
          <p:cNvSpPr txBox="1"/>
          <p:nvPr/>
        </p:nvSpPr>
        <p:spPr>
          <a:xfrm>
            <a:off x="795528" y="347472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secure storage settings, restricted access and appropriate identity/RBAC.</a:t>
            </a:r>
          </a:p>
        </p:txBody>
      </p:sp>
      <p:sp>
        <p:nvSpPr>
          <p:cNvPr id="19" name="Rounded Rectangle 18"/>
          <p:cNvSpPr/>
          <p:nvPr/>
        </p:nvSpPr>
        <p:spPr>
          <a:xfrm>
            <a:off x="6309360" y="288036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Rectangle 19"/>
          <p:cNvSpPr/>
          <p:nvPr/>
        </p:nvSpPr>
        <p:spPr>
          <a:xfrm>
            <a:off x="6309360" y="2880360"/>
            <a:ext cx="64008" cy="1234440"/>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1" name="TextBox 20"/>
          <p:cNvSpPr txBox="1"/>
          <p:nvPr/>
        </p:nvSpPr>
        <p:spPr>
          <a:xfrm>
            <a:off x="6510528" y="3017520"/>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State locking</a:t>
            </a:r>
          </a:p>
        </p:txBody>
      </p:sp>
      <p:sp>
        <p:nvSpPr>
          <p:cNvPr id="22" name="TextBox 21"/>
          <p:cNvSpPr txBox="1"/>
          <p:nvPr/>
        </p:nvSpPr>
        <p:spPr>
          <a:xfrm>
            <a:off x="6510528" y="347472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Use Azure Blob state with locking/lease behavior and protect the storage account.</a:t>
            </a:r>
          </a:p>
        </p:txBody>
      </p:sp>
      <p:sp>
        <p:nvSpPr>
          <p:cNvPr id="23" name="Rounded Rectangle 22"/>
          <p:cNvSpPr/>
          <p:nvPr/>
        </p:nvSpPr>
        <p:spPr>
          <a:xfrm>
            <a:off x="594360" y="443484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Rectangle 23"/>
          <p:cNvSpPr/>
          <p:nvPr/>
        </p:nvSpPr>
        <p:spPr>
          <a:xfrm>
            <a:off x="594360" y="4434840"/>
            <a:ext cx="64008" cy="1234440"/>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5" name="TextBox 24"/>
          <p:cNvSpPr txBox="1"/>
          <p:nvPr/>
        </p:nvSpPr>
        <p:spPr>
          <a:xfrm>
            <a:off x="795528" y="4572000"/>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VM access</a:t>
            </a:r>
          </a:p>
        </p:txBody>
      </p:sp>
      <p:sp>
        <p:nvSpPr>
          <p:cNvPr id="26" name="TextBox 25"/>
          <p:cNvSpPr txBox="1"/>
          <p:nvPr/>
        </p:nvSpPr>
        <p:spPr>
          <a:xfrm>
            <a:off x="795528" y="502920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Prefer Azure Bastion, private connectivity or controlled jump-host patterns.</a:t>
            </a:r>
          </a:p>
        </p:txBody>
      </p:sp>
      <p:sp>
        <p:nvSpPr>
          <p:cNvPr id="27" name="Rounded Rectangle 26"/>
          <p:cNvSpPr/>
          <p:nvPr/>
        </p:nvSpPr>
        <p:spPr>
          <a:xfrm>
            <a:off x="6309360" y="4434840"/>
            <a:ext cx="5257800" cy="123444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8" name="Rectangle 27"/>
          <p:cNvSpPr/>
          <p:nvPr/>
        </p:nvSpPr>
        <p:spPr>
          <a:xfrm>
            <a:off x="6309360" y="4434840"/>
            <a:ext cx="64008" cy="1234440"/>
          </a:xfrm>
          <a:prstGeom prst="rect">
            <a:avLst/>
          </a:prstGeom>
          <a:solidFill>
            <a:srgbClr val="2DBECD"/>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TextBox 28"/>
          <p:cNvSpPr txBox="1"/>
          <p:nvPr/>
        </p:nvSpPr>
        <p:spPr>
          <a:xfrm>
            <a:off x="6510528" y="4572000"/>
            <a:ext cx="489204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Observability</a:t>
            </a:r>
          </a:p>
        </p:txBody>
      </p:sp>
      <p:sp>
        <p:nvSpPr>
          <p:cNvPr id="30" name="TextBox 29"/>
          <p:cNvSpPr txBox="1"/>
          <p:nvPr/>
        </p:nvSpPr>
        <p:spPr>
          <a:xfrm>
            <a:off x="6510528" y="5029200"/>
            <a:ext cx="4873752" cy="52120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Add Azure Monitor, Log Analytics, diagnostics and application health checks.</a:t>
            </a:r>
          </a:p>
        </p:txBody>
      </p:sp>
      <p:sp>
        <p:nvSpPr>
          <p:cNvPr id="31" name="TextBox 30"/>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How to Convert This into Terraform Modules</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The current root module can evolve into reusable networking, security, compute and LB modules.</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REUSABILITY</a:t>
            </a:r>
          </a:p>
        </p:txBody>
      </p:sp>
      <p:sp>
        <p:nvSpPr>
          <p:cNvPr id="7" name="Rounded Rectangle 6"/>
          <p:cNvSpPr/>
          <p:nvPr/>
        </p:nvSpPr>
        <p:spPr>
          <a:xfrm>
            <a:off x="685800" y="1828800"/>
            <a:ext cx="2331720" cy="914400"/>
          </a:xfrm>
          <a:prstGeom prst="roundRect">
            <a:avLst/>
          </a:prstGeom>
          <a:solidFill>
            <a:srgbClr val="FFFFFF"/>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758952" y="1901952"/>
            <a:ext cx="2185415"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module.networking</a:t>
            </a:r>
          </a:p>
        </p:txBody>
      </p:sp>
      <p:sp>
        <p:nvSpPr>
          <p:cNvPr id="9" name="Rounded Rectangle 8"/>
          <p:cNvSpPr/>
          <p:nvPr/>
        </p:nvSpPr>
        <p:spPr>
          <a:xfrm>
            <a:off x="3429000" y="1828800"/>
            <a:ext cx="2331720" cy="914400"/>
          </a:xfrm>
          <a:prstGeom prst="roundRect">
            <a:avLst/>
          </a:prstGeom>
          <a:solidFill>
            <a:srgbClr val="FFFFFF"/>
          </a:solidFill>
          <a:ln w="19050">
            <a:solidFill>
              <a:srgbClr val="DC4E4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0" name="TextBox 9"/>
          <p:cNvSpPr txBox="1"/>
          <p:nvPr/>
        </p:nvSpPr>
        <p:spPr>
          <a:xfrm>
            <a:off x="3502152" y="1901952"/>
            <a:ext cx="2185415"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module.security</a:t>
            </a:r>
          </a:p>
        </p:txBody>
      </p:sp>
      <p:sp>
        <p:nvSpPr>
          <p:cNvPr id="11" name="Rounded Rectangle 10"/>
          <p:cNvSpPr/>
          <p:nvPr/>
        </p:nvSpPr>
        <p:spPr>
          <a:xfrm>
            <a:off x="6172200" y="1828800"/>
            <a:ext cx="2331720" cy="914400"/>
          </a:xfrm>
          <a:prstGeom prst="roundRect">
            <a:avLst/>
          </a:prstGeom>
          <a:solidFill>
            <a:srgbClr val="FFFFFF"/>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TextBox 11"/>
          <p:cNvSpPr txBox="1"/>
          <p:nvPr/>
        </p:nvSpPr>
        <p:spPr>
          <a:xfrm>
            <a:off x="6245352" y="1901952"/>
            <a:ext cx="2185415"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module.compute</a:t>
            </a:r>
          </a:p>
        </p:txBody>
      </p:sp>
      <p:sp>
        <p:nvSpPr>
          <p:cNvPr id="13" name="Rounded Rectangle 12"/>
          <p:cNvSpPr/>
          <p:nvPr/>
        </p:nvSpPr>
        <p:spPr>
          <a:xfrm>
            <a:off x="8915400" y="1828800"/>
            <a:ext cx="2331720" cy="914400"/>
          </a:xfrm>
          <a:prstGeom prst="roundRect">
            <a:avLst/>
          </a:prstGeom>
          <a:solidFill>
            <a:srgbClr val="FFFFFF"/>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8988552" y="1901952"/>
            <a:ext cx="2185415" cy="76809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module.loadbalancer</a:t>
            </a:r>
          </a:p>
        </p:txBody>
      </p:sp>
      <p:cxnSp>
        <p:nvCxnSpPr>
          <p:cNvPr id="15" name="Connector 14"/>
          <p:cNvCxnSpPr/>
          <p:nvPr/>
        </p:nvCxnSpPr>
        <p:spPr>
          <a:xfrm>
            <a:off x="3017520" y="2286000"/>
            <a:ext cx="41148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5760720" y="2286000"/>
            <a:ext cx="41148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8503920" y="2286000"/>
            <a:ext cx="411480" cy="0"/>
          </a:xfrm>
          <a:prstGeom prst="line">
            <a:avLst/>
          </a:prstGeom>
          <a:ln w="25400">
            <a:solidFill>
              <a:srgbClr val="69768C"/>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85800" y="3337560"/>
            <a:ext cx="10561320" cy="109728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9" name="Rectangle 18"/>
          <p:cNvSpPr/>
          <p:nvPr/>
        </p:nvSpPr>
        <p:spPr>
          <a:xfrm>
            <a:off x="685800" y="3337560"/>
            <a:ext cx="64008" cy="1097280"/>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886968" y="3474720"/>
            <a:ext cx="10195560"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Root module</a:t>
            </a:r>
          </a:p>
        </p:txBody>
      </p:sp>
      <p:sp>
        <p:nvSpPr>
          <p:cNvPr id="21" name="TextBox 20"/>
          <p:cNvSpPr txBox="1"/>
          <p:nvPr/>
        </p:nvSpPr>
        <p:spPr>
          <a:xfrm>
            <a:off x="886968" y="3931920"/>
            <a:ext cx="10177272" cy="384047"/>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Pass variables and outputs between modules; keep environment-specific values in tfvars or a higher-level configuration.</a:t>
            </a:r>
          </a:p>
        </p:txBody>
      </p:sp>
      <p:sp>
        <p:nvSpPr>
          <p:cNvPr id="22" name="Rounded Rectangle 21"/>
          <p:cNvSpPr/>
          <p:nvPr/>
        </p:nvSpPr>
        <p:spPr>
          <a:xfrm>
            <a:off x="1828800" y="4709160"/>
            <a:ext cx="8321040" cy="914400"/>
          </a:xfrm>
          <a:prstGeom prst="roundRect">
            <a:avLst/>
          </a:prstGeom>
          <a:solidFill>
            <a:srgbClr val="1D222D"/>
          </a:solidFill>
          <a:ln>
            <a:solidFill>
              <a:srgbClr val="374155"/>
            </a:solidFill>
          </a:ln>
        </p:spPr>
        <p:style>
          <a:lnRef idx="1">
            <a:schemeClr val="accent1"/>
          </a:lnRef>
          <a:fillRef idx="3">
            <a:schemeClr val="accent1"/>
          </a:fillRef>
          <a:effectRef idx="2">
            <a:schemeClr val="accent1"/>
          </a:effectRef>
          <a:fontRef idx="minor">
            <a:schemeClr val="lt1"/>
          </a:fontRef>
        </p:style>
        <p:txBody>
          <a:bodyPr rtlCol="0" anchor="ctr" wrap="none" lIns="38100" rIns="38100" tIns="25400" bIns="25400"/>
          <a:lstStyle/>
          <a:p>
            <a:pPr algn="ctr"/>
          </a:p>
        </p:txBody>
      </p:sp>
      <p:sp>
        <p:nvSpPr>
          <p:cNvPr id="23" name="TextBox 22"/>
          <p:cNvSpPr txBox="1"/>
          <p:nvPr/>
        </p:nvSpPr>
        <p:spPr>
          <a:xfrm>
            <a:off x="1993392" y="4800600"/>
            <a:ext cx="8001000" cy="256032"/>
          </a:xfrm>
          <a:prstGeom prst="rect">
            <a:avLst/>
          </a:prstGeom>
          <a:noFill/>
        </p:spPr>
        <p:txBody>
          <a:bodyPr wrap="none" lIns="38100" rIns="38100" tIns="25400" bIns="25400">
            <a:spAutoFit/>
          </a:bodyPr>
          <a:lstStyle/>
          <a:p>
            <a:pPr>
              <a:defRPr sz="900" b="1">
                <a:solidFill>
                  <a:srgbClr val="2DBECD"/>
                </a:solidFill>
              </a:defRPr>
            </a:pPr>
            <a:r>
              <a:rPr sz="1000">
                <a:solidFill>
                  <a:srgbClr val="FFFFFF"/>
                </a:solidFill>
                <a:latin typeface="Courier New"/>
              </a:rPr>
              <a:t>CALL EXAMPLE</a:t>
            </a:r>
          </a:p>
        </p:txBody>
      </p:sp>
      <p:sp>
        <p:nvSpPr>
          <p:cNvPr id="24" name="TextBox 23"/>
          <p:cNvSpPr txBox="1"/>
          <p:nvPr/>
        </p:nvSpPr>
        <p:spPr>
          <a:xfrm>
            <a:off x="1993392" y="5093208"/>
            <a:ext cx="8001000" cy="393192"/>
          </a:xfrm>
          <a:prstGeom prst="rect">
            <a:avLst/>
          </a:prstGeom>
          <a:noFill/>
        </p:spPr>
        <p:txBody>
          <a:bodyPr wrap="none" lIns="38100" rIns="38100" tIns="25400" bIns="25400">
            <a:spAutoFit/>
          </a:bodyPr>
          <a:lstStyle/>
          <a:p>
            <a:pPr>
              <a:defRPr sz="1100">
                <a:solidFill>
                  <a:srgbClr val="FFFFFF"/>
                </a:solidFill>
                <a:latin typeface="Consolas"/>
              </a:defRPr>
            </a:pPr>
            <a:r>
              <a:rPr sz="1000">
                <a:solidFill>
                  <a:srgbClr val="FFFFFF"/>
                </a:solidFill>
                <a:latin typeface="Courier New"/>
              </a:rPr>
              <a:t>module "compute" {</a:t>
            </a:r>
            <a:br/>
            <a:r>
              <a:rPr sz="1000">
                <a:solidFill>
                  <a:srgbClr val="FFFFFF"/>
                </a:solidFill>
                <a:latin typeface="Courier New"/>
              </a:rPr>
              <a:t>  source = "./modules/compute"</a:t>
            </a:r>
            <a:br/>
            <a:r>
              <a:rPr sz="1000">
                <a:solidFill>
                  <a:srgbClr val="FFFFFF"/>
                </a:solidFill>
                <a:latin typeface="Courier New"/>
              </a:rPr>
              <a:t>  instances = var.instance</a:t>
            </a:r>
            <a:br/>
            <a:r>
              <a:rPr sz="1000">
                <a:solidFill>
                  <a:srgbClr val="FFFFFF"/>
                </a:solidFill>
                <a:latin typeface="Courier New"/>
              </a:rPr>
              <a:t>}</a:t>
            </a:r>
          </a:p>
        </p:txBody>
      </p:sp>
      <p:sp>
        <p:nvSpPr>
          <p:cNvPr id="25" name="TextBox 24"/>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Rectangle 2"/>
          <p:cNvSpPr/>
          <p:nvPr/>
        </p:nvSpPr>
        <p:spPr>
          <a:xfrm>
            <a:off x="0" y="0"/>
            <a:ext cx="12191695" cy="9144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 name="TextBox 3"/>
          <p:cNvSpPr txBox="1"/>
          <p:nvPr/>
        </p:nvSpPr>
        <p:spPr>
          <a:xfrm>
            <a:off x="502920" y="256032"/>
            <a:ext cx="10789920" cy="502920"/>
          </a:xfrm>
          <a:prstGeom prst="rect">
            <a:avLst/>
          </a:prstGeom>
          <a:noFill/>
        </p:spPr>
        <p:txBody>
          <a:bodyPr wrap="square" lIns="38100" rIns="38100" tIns="25400" bIns="25400">
            <a:spAutoFit/>
          </a:bodyPr>
          <a:lstStyle/>
          <a:p>
            <a:pPr>
              <a:defRPr sz="2700" b="1">
                <a:solidFill>
                  <a:srgbClr val="141F37"/>
                </a:solidFill>
              </a:defRPr>
            </a:pPr>
            <a:r>
              <a:rPr sz="1100">
                <a:solidFill>
                  <a:srgbClr val="232A37"/>
                </a:solidFill>
                <a:latin typeface="Arial"/>
              </a:rPr>
              <a:t>Troubleshooting Guide</a:t>
            </a:r>
          </a:p>
        </p:txBody>
      </p:sp>
      <p:sp>
        <p:nvSpPr>
          <p:cNvPr id="5" name="TextBox 4"/>
          <p:cNvSpPr txBox="1"/>
          <p:nvPr/>
        </p:nvSpPr>
        <p:spPr>
          <a:xfrm>
            <a:off x="530352" y="804672"/>
            <a:ext cx="10789920" cy="384048"/>
          </a:xfrm>
          <a:prstGeom prst="rect">
            <a:avLst/>
          </a:prstGeom>
          <a:noFill/>
        </p:spPr>
        <p:txBody>
          <a:bodyPr wrap="square" lIns="38100" rIns="38100" tIns="25400" bIns="25400">
            <a:spAutoFit/>
          </a:bodyPr>
          <a:lstStyle/>
          <a:p>
            <a:pPr>
              <a:defRPr sz="1200">
                <a:solidFill>
                  <a:srgbClr val="69768C"/>
                </a:solidFill>
              </a:defRPr>
            </a:pPr>
            <a:r>
              <a:rPr sz="1100">
                <a:solidFill>
                  <a:srgbClr val="232A37"/>
                </a:solidFill>
                <a:latin typeface="Arial"/>
              </a:rPr>
              <a:t>Common issues in this configuration and the first checks to perform.</a:t>
            </a:r>
          </a:p>
        </p:txBody>
      </p:sp>
      <p:sp>
        <p:nvSpPr>
          <p:cNvPr id="6" name="TextBox 5"/>
          <p:cNvSpPr txBox="1"/>
          <p:nvPr/>
        </p:nvSpPr>
        <p:spPr>
          <a:xfrm>
            <a:off x="10424160" y="274320"/>
            <a:ext cx="1188720" cy="320040"/>
          </a:xfrm>
          <a:prstGeom prst="rect">
            <a:avLst/>
          </a:prstGeom>
          <a:noFill/>
        </p:spPr>
        <p:txBody>
          <a:bodyPr wrap="square" lIns="38100" rIns="38100" tIns="25400" bIns="25400">
            <a:spAutoFit/>
          </a:bodyPr>
          <a:lstStyle/>
          <a:p>
            <a:pPr algn="r">
              <a:defRPr sz="900" b="1">
                <a:solidFill>
                  <a:srgbClr val="2D69DC"/>
                </a:solidFill>
              </a:defRPr>
            </a:pPr>
            <a:r>
              <a:rPr sz="1100">
                <a:solidFill>
                  <a:srgbClr val="232A37"/>
                </a:solidFill>
                <a:latin typeface="Arial"/>
              </a:rPr>
              <a:t>OPERATIONS</a:t>
            </a:r>
          </a:p>
        </p:txBody>
      </p:sp>
      <p:sp>
        <p:nvSpPr>
          <p:cNvPr id="7" name="Rounded Rectangle 6"/>
          <p:cNvSpPr/>
          <p:nvPr/>
        </p:nvSpPr>
        <p:spPr>
          <a:xfrm>
            <a:off x="548640" y="1188720"/>
            <a:ext cx="2743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Rectangle 7"/>
          <p:cNvSpPr/>
          <p:nvPr/>
        </p:nvSpPr>
        <p:spPr>
          <a:xfrm>
            <a:off x="548640" y="1188720"/>
            <a:ext cx="64008" cy="749808"/>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9" name="TextBox 8"/>
          <p:cNvSpPr txBox="1"/>
          <p:nvPr/>
        </p:nvSpPr>
        <p:spPr>
          <a:xfrm>
            <a:off x="749808" y="1325880"/>
            <a:ext cx="2377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Backend init fails</a:t>
            </a:r>
          </a:p>
        </p:txBody>
      </p:sp>
      <p:sp>
        <p:nvSpPr>
          <p:cNvPr id="10" name="TextBox 9"/>
          <p:cNvSpPr txBox="1"/>
          <p:nvPr/>
        </p:nvSpPr>
        <p:spPr>
          <a:xfrm>
            <a:off x="749808" y="1783080"/>
            <a:ext cx="2359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Storage account/container does not exist or credentials lack access.</a:t>
            </a:r>
          </a:p>
        </p:txBody>
      </p:sp>
      <p:sp>
        <p:nvSpPr>
          <p:cNvPr id="11" name="Rounded Rectangle 10"/>
          <p:cNvSpPr/>
          <p:nvPr/>
        </p:nvSpPr>
        <p:spPr>
          <a:xfrm>
            <a:off x="3520440" y="1188720"/>
            <a:ext cx="7315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2" name="Rectangle 11"/>
          <p:cNvSpPr/>
          <p:nvPr/>
        </p:nvSpPr>
        <p:spPr>
          <a:xfrm>
            <a:off x="3520440" y="1188720"/>
            <a:ext cx="64008" cy="749808"/>
          </a:xfrm>
          <a:prstGeom prst="rect">
            <a:avLst/>
          </a:prstGeom>
          <a:solidFill>
            <a:srgbClr val="DC4E4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3" name="TextBox 12"/>
          <p:cNvSpPr txBox="1"/>
          <p:nvPr/>
        </p:nvSpPr>
        <p:spPr>
          <a:xfrm>
            <a:off x="3721608" y="1325880"/>
            <a:ext cx="6949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Check</a:t>
            </a:r>
          </a:p>
        </p:txBody>
      </p:sp>
      <p:sp>
        <p:nvSpPr>
          <p:cNvPr id="14" name="TextBox 13"/>
          <p:cNvSpPr txBox="1"/>
          <p:nvPr/>
        </p:nvSpPr>
        <p:spPr>
          <a:xfrm>
            <a:off x="3721608" y="1783080"/>
            <a:ext cx="6931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Verify RG, storage account, container and Azure authentication.</a:t>
            </a:r>
          </a:p>
        </p:txBody>
      </p:sp>
      <p:sp>
        <p:nvSpPr>
          <p:cNvPr id="15" name="Rounded Rectangle 14"/>
          <p:cNvSpPr/>
          <p:nvPr/>
        </p:nvSpPr>
        <p:spPr>
          <a:xfrm>
            <a:off x="548640" y="2148840"/>
            <a:ext cx="2743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6" name="Rectangle 15"/>
          <p:cNvSpPr/>
          <p:nvPr/>
        </p:nvSpPr>
        <p:spPr>
          <a:xfrm>
            <a:off x="548640" y="2148840"/>
            <a:ext cx="64008" cy="749808"/>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7" name="TextBox 16"/>
          <p:cNvSpPr txBox="1"/>
          <p:nvPr/>
        </p:nvSpPr>
        <p:spPr>
          <a:xfrm>
            <a:off x="749808" y="2286000"/>
            <a:ext cx="2377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VM image error</a:t>
            </a:r>
          </a:p>
        </p:txBody>
      </p:sp>
      <p:sp>
        <p:nvSpPr>
          <p:cNvPr id="18" name="TextBox 17"/>
          <p:cNvSpPr txBox="1"/>
          <p:nvPr/>
        </p:nvSpPr>
        <p:spPr>
          <a:xfrm>
            <a:off x="749808" y="2743200"/>
            <a:ext cx="2359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Image offer/SKU or region does not match available image.</a:t>
            </a:r>
          </a:p>
        </p:txBody>
      </p:sp>
      <p:sp>
        <p:nvSpPr>
          <p:cNvPr id="19" name="Rounded Rectangle 18"/>
          <p:cNvSpPr/>
          <p:nvPr/>
        </p:nvSpPr>
        <p:spPr>
          <a:xfrm>
            <a:off x="3520440" y="2148840"/>
            <a:ext cx="7315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Rectangle 19"/>
          <p:cNvSpPr/>
          <p:nvPr/>
        </p:nvSpPr>
        <p:spPr>
          <a:xfrm>
            <a:off x="3520440" y="2148840"/>
            <a:ext cx="64008" cy="749808"/>
          </a:xfrm>
          <a:prstGeom prst="rect">
            <a:avLst/>
          </a:prstGeom>
          <a:solidFill>
            <a:srgbClr val="F2994A"/>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1" name="TextBox 20"/>
          <p:cNvSpPr txBox="1"/>
          <p:nvPr/>
        </p:nvSpPr>
        <p:spPr>
          <a:xfrm>
            <a:off x="3721608" y="2286000"/>
            <a:ext cx="6949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Check</a:t>
            </a:r>
          </a:p>
        </p:txBody>
      </p:sp>
      <p:sp>
        <p:nvSpPr>
          <p:cNvPr id="22" name="TextBox 21"/>
          <p:cNvSpPr txBox="1"/>
          <p:nvPr/>
        </p:nvSpPr>
        <p:spPr>
          <a:xfrm>
            <a:off x="3721608" y="2743200"/>
            <a:ext cx="6931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Query Azure Marketplace image metadata and confirm region availability.</a:t>
            </a:r>
          </a:p>
        </p:txBody>
      </p:sp>
      <p:sp>
        <p:nvSpPr>
          <p:cNvPr id="23" name="Rounded Rectangle 22"/>
          <p:cNvSpPr/>
          <p:nvPr/>
        </p:nvSpPr>
        <p:spPr>
          <a:xfrm>
            <a:off x="548640" y="3108960"/>
            <a:ext cx="2743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4" name="Rectangle 23"/>
          <p:cNvSpPr/>
          <p:nvPr/>
        </p:nvSpPr>
        <p:spPr>
          <a:xfrm>
            <a:off x="548640" y="3108960"/>
            <a:ext cx="64008" cy="749808"/>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5" name="TextBox 24"/>
          <p:cNvSpPr txBox="1"/>
          <p:nvPr/>
        </p:nvSpPr>
        <p:spPr>
          <a:xfrm>
            <a:off x="749808" y="3246120"/>
            <a:ext cx="2377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LB has no traffic</a:t>
            </a:r>
          </a:p>
        </p:txBody>
      </p:sp>
      <p:sp>
        <p:nvSpPr>
          <p:cNvPr id="26" name="TextBox 25"/>
          <p:cNvSpPr txBox="1"/>
          <p:nvPr/>
        </p:nvSpPr>
        <p:spPr>
          <a:xfrm>
            <a:off x="749808" y="3703320"/>
            <a:ext cx="2359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Backend NIC not associated or probe reports unhealthy.</a:t>
            </a:r>
          </a:p>
        </p:txBody>
      </p:sp>
      <p:sp>
        <p:nvSpPr>
          <p:cNvPr id="27" name="Rounded Rectangle 26"/>
          <p:cNvSpPr/>
          <p:nvPr/>
        </p:nvSpPr>
        <p:spPr>
          <a:xfrm>
            <a:off x="3520440" y="3108960"/>
            <a:ext cx="7315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8" name="Rectangle 27"/>
          <p:cNvSpPr/>
          <p:nvPr/>
        </p:nvSpPr>
        <p:spPr>
          <a:xfrm>
            <a:off x="3520440" y="3108960"/>
            <a:ext cx="64008" cy="749808"/>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TextBox 28"/>
          <p:cNvSpPr txBox="1"/>
          <p:nvPr/>
        </p:nvSpPr>
        <p:spPr>
          <a:xfrm>
            <a:off x="3721608" y="3246120"/>
            <a:ext cx="6949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Check</a:t>
            </a:r>
          </a:p>
        </p:txBody>
      </p:sp>
      <p:sp>
        <p:nvSpPr>
          <p:cNvPr id="30" name="TextBox 29"/>
          <p:cNvSpPr txBox="1"/>
          <p:nvPr/>
        </p:nvSpPr>
        <p:spPr>
          <a:xfrm>
            <a:off x="3721608" y="3703320"/>
            <a:ext cx="6931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Check NIC association, NSG port 80 and application startup.</a:t>
            </a:r>
          </a:p>
        </p:txBody>
      </p:sp>
      <p:sp>
        <p:nvSpPr>
          <p:cNvPr id="31" name="Rounded Rectangle 30"/>
          <p:cNvSpPr/>
          <p:nvPr/>
        </p:nvSpPr>
        <p:spPr>
          <a:xfrm>
            <a:off x="548640" y="4069080"/>
            <a:ext cx="2743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2" name="Rectangle 31"/>
          <p:cNvSpPr/>
          <p:nvPr/>
        </p:nvSpPr>
        <p:spPr>
          <a:xfrm>
            <a:off x="548640" y="4069080"/>
            <a:ext cx="64008" cy="749808"/>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3" name="TextBox 32"/>
          <p:cNvSpPr txBox="1"/>
          <p:nvPr/>
        </p:nvSpPr>
        <p:spPr>
          <a:xfrm>
            <a:off x="749808" y="4206240"/>
            <a:ext cx="2377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SSH fails</a:t>
            </a:r>
          </a:p>
        </p:txBody>
      </p:sp>
      <p:sp>
        <p:nvSpPr>
          <p:cNvPr id="34" name="TextBox 33"/>
          <p:cNvSpPr txBox="1"/>
          <p:nvPr/>
        </p:nvSpPr>
        <p:spPr>
          <a:xfrm>
            <a:off x="749808" y="4663440"/>
            <a:ext cx="2359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NSG blocks 22, key path is wrong, or VM has no public path.</a:t>
            </a:r>
          </a:p>
        </p:txBody>
      </p:sp>
      <p:sp>
        <p:nvSpPr>
          <p:cNvPr id="35" name="Rounded Rectangle 34"/>
          <p:cNvSpPr/>
          <p:nvPr/>
        </p:nvSpPr>
        <p:spPr>
          <a:xfrm>
            <a:off x="3520440" y="4069080"/>
            <a:ext cx="7315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6" name="Rectangle 35"/>
          <p:cNvSpPr/>
          <p:nvPr/>
        </p:nvSpPr>
        <p:spPr>
          <a:xfrm>
            <a:off x="3520440" y="4069080"/>
            <a:ext cx="64008" cy="749808"/>
          </a:xfrm>
          <a:prstGeom prst="rect">
            <a:avLst/>
          </a:prstGeom>
          <a:solidFill>
            <a:srgbClr val="7D5AD2"/>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7" name="TextBox 36"/>
          <p:cNvSpPr txBox="1"/>
          <p:nvPr/>
        </p:nvSpPr>
        <p:spPr>
          <a:xfrm>
            <a:off x="3721608" y="4206240"/>
            <a:ext cx="6949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Check</a:t>
            </a:r>
          </a:p>
        </p:txBody>
      </p:sp>
      <p:sp>
        <p:nvSpPr>
          <p:cNvPr id="38" name="TextBox 37"/>
          <p:cNvSpPr txBox="1"/>
          <p:nvPr/>
        </p:nvSpPr>
        <p:spPr>
          <a:xfrm>
            <a:off x="3721608" y="4663440"/>
            <a:ext cx="6931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Verify key, NSG and connectivity model.</a:t>
            </a:r>
          </a:p>
        </p:txBody>
      </p:sp>
      <p:sp>
        <p:nvSpPr>
          <p:cNvPr id="39" name="Rounded Rectangle 38"/>
          <p:cNvSpPr/>
          <p:nvPr/>
        </p:nvSpPr>
        <p:spPr>
          <a:xfrm>
            <a:off x="548640" y="5029200"/>
            <a:ext cx="2743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0" name="Rectangle 39"/>
          <p:cNvSpPr/>
          <p:nvPr/>
        </p:nvSpPr>
        <p:spPr>
          <a:xfrm>
            <a:off x="548640" y="5029200"/>
            <a:ext cx="64008" cy="749808"/>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1" name="TextBox 40"/>
          <p:cNvSpPr txBox="1"/>
          <p:nvPr/>
        </p:nvSpPr>
        <p:spPr>
          <a:xfrm>
            <a:off x="749808" y="5166360"/>
            <a:ext cx="2377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for_each key error</a:t>
            </a:r>
          </a:p>
        </p:txBody>
      </p:sp>
      <p:sp>
        <p:nvSpPr>
          <p:cNvPr id="42" name="TextBox 41"/>
          <p:cNvSpPr txBox="1"/>
          <p:nvPr/>
        </p:nvSpPr>
        <p:spPr>
          <a:xfrm>
            <a:off x="749808" y="5623560"/>
            <a:ext cx="2359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Resource references do not use the same map key.</a:t>
            </a:r>
          </a:p>
        </p:txBody>
      </p:sp>
      <p:sp>
        <p:nvSpPr>
          <p:cNvPr id="43" name="Rounded Rectangle 42"/>
          <p:cNvSpPr/>
          <p:nvPr/>
        </p:nvSpPr>
        <p:spPr>
          <a:xfrm>
            <a:off x="3520440" y="5029200"/>
            <a:ext cx="7315200" cy="749808"/>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4" name="Rectangle 43"/>
          <p:cNvSpPr/>
          <p:nvPr/>
        </p:nvSpPr>
        <p:spPr>
          <a:xfrm>
            <a:off x="3520440" y="5029200"/>
            <a:ext cx="64008" cy="749808"/>
          </a:xfrm>
          <a:prstGeom prst="rect">
            <a:avLst/>
          </a:prstGeom>
          <a:solidFill>
            <a:srgbClr val="2AA56E"/>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45" name="TextBox 44"/>
          <p:cNvSpPr txBox="1"/>
          <p:nvPr/>
        </p:nvSpPr>
        <p:spPr>
          <a:xfrm>
            <a:off x="3721608" y="5166360"/>
            <a:ext cx="6949440" cy="384048"/>
          </a:xfrm>
          <a:prstGeom prst="rect">
            <a:avLst/>
          </a:prstGeom>
          <a:noFill/>
        </p:spPr>
        <p:txBody>
          <a:bodyPr wrap="square" lIns="38100" rIns="38100" tIns="25400" bIns="25400">
            <a:spAutoFit/>
          </a:bodyPr>
          <a:lstStyle/>
          <a:p>
            <a:pPr>
              <a:defRPr sz="1200" b="1">
                <a:solidFill>
                  <a:srgbClr val="141F37"/>
                </a:solidFill>
              </a:defRPr>
            </a:pPr>
            <a:r>
              <a:rPr sz="1100">
                <a:solidFill>
                  <a:srgbClr val="232A37"/>
                </a:solidFill>
                <a:latin typeface="Arial"/>
              </a:rPr>
              <a:t>Check</a:t>
            </a:r>
          </a:p>
        </p:txBody>
      </p:sp>
      <p:sp>
        <p:nvSpPr>
          <p:cNvPr id="46" name="TextBox 45"/>
          <p:cNvSpPr txBox="1"/>
          <p:nvPr/>
        </p:nvSpPr>
        <p:spPr>
          <a:xfrm>
            <a:off x="3721608" y="5623560"/>
            <a:ext cx="6931152" cy="36575"/>
          </a:xfrm>
          <a:prstGeom prst="rect">
            <a:avLst/>
          </a:prstGeom>
          <a:noFill/>
        </p:spPr>
        <p:txBody>
          <a:bodyPr wrap="square" lIns="38100" rIns="38100" tIns="25400" bIns="25400">
            <a:spAutoFit/>
          </a:bodyPr>
          <a:lstStyle/>
          <a:p>
            <a:pPr>
              <a:spcAft>
                <a:spcPts val="500"/>
              </a:spcAft>
              <a:defRPr sz="900">
                <a:solidFill>
                  <a:srgbClr val="232A37"/>
                </a:solidFill>
              </a:defRPr>
            </a:pPr>
            <a:r>
              <a:rPr sz="1100">
                <a:solidFill>
                  <a:srgbClr val="232A37"/>
                </a:solidFill>
                <a:latin typeface="Arial"/>
              </a:rPr>
              <a:t>Use resource[each.key] consistently.</a:t>
            </a:r>
          </a:p>
        </p:txBody>
      </p:sp>
      <p:sp>
        <p:nvSpPr>
          <p:cNvPr id="47" name="TextBox 46"/>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1F37"/>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 name="TextBox 2"/>
          <p:cNvSpPr txBox="1"/>
          <p:nvPr/>
        </p:nvSpPr>
        <p:spPr>
          <a:xfrm>
            <a:off x="731520" y="685800"/>
            <a:ext cx="10515600" cy="594360"/>
          </a:xfrm>
          <a:prstGeom prst="rect">
            <a:avLst/>
          </a:prstGeom>
          <a:noFill/>
        </p:spPr>
        <p:txBody>
          <a:bodyPr wrap="square" lIns="38100" rIns="38100" tIns="25400" bIns="25400">
            <a:spAutoFit/>
          </a:bodyPr>
          <a:lstStyle/>
          <a:p>
            <a:pPr>
              <a:defRPr sz="3000" b="1">
                <a:solidFill>
                  <a:srgbClr val="FFFFFF"/>
                </a:solidFill>
              </a:defRPr>
            </a:pPr>
            <a:r>
              <a:rPr sz="1100">
                <a:solidFill>
                  <a:srgbClr val="232A37"/>
                </a:solidFill>
                <a:latin typeface="Arial"/>
              </a:rPr>
              <a:t>End-to-End Deployment Flow</a:t>
            </a:r>
          </a:p>
        </p:txBody>
      </p:sp>
      <p:sp>
        <p:nvSpPr>
          <p:cNvPr id="4" name="Rounded Rectangle 3"/>
          <p:cNvSpPr/>
          <p:nvPr/>
        </p:nvSpPr>
        <p:spPr>
          <a:xfrm>
            <a:off x="502920" y="2148840"/>
            <a:ext cx="1115568" cy="777240"/>
          </a:xfrm>
          <a:prstGeom prst="roundRect">
            <a:avLst/>
          </a:prstGeom>
          <a:solidFill>
            <a:srgbClr val="1E2B46"/>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5" name="TextBox 4"/>
          <p:cNvSpPr txBox="1"/>
          <p:nvPr/>
        </p:nvSpPr>
        <p:spPr>
          <a:xfrm>
            <a:off x="576072"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Variables</a:t>
            </a:r>
          </a:p>
        </p:txBody>
      </p:sp>
      <p:cxnSp>
        <p:nvCxnSpPr>
          <p:cNvPr id="6" name="Connector 5"/>
          <p:cNvCxnSpPr/>
          <p:nvPr/>
        </p:nvCxnSpPr>
        <p:spPr>
          <a:xfrm>
            <a:off x="1618488"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1755648" y="2148840"/>
            <a:ext cx="1115568" cy="777240"/>
          </a:xfrm>
          <a:prstGeom prst="roundRect">
            <a:avLst/>
          </a:prstGeom>
          <a:solidFill>
            <a:srgbClr val="1E2B46"/>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8" name="TextBox 7"/>
          <p:cNvSpPr txBox="1"/>
          <p:nvPr/>
        </p:nvSpPr>
        <p:spPr>
          <a:xfrm>
            <a:off x="1828800"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Locals</a:t>
            </a:r>
          </a:p>
        </p:txBody>
      </p:sp>
      <p:cxnSp>
        <p:nvCxnSpPr>
          <p:cNvPr id="9" name="Connector 8"/>
          <p:cNvCxnSpPr/>
          <p:nvPr/>
        </p:nvCxnSpPr>
        <p:spPr>
          <a:xfrm>
            <a:off x="2871215"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008376" y="2148840"/>
            <a:ext cx="1325880" cy="777240"/>
          </a:xfrm>
          <a:prstGeom prst="roundRect">
            <a:avLst/>
          </a:prstGeom>
          <a:solidFill>
            <a:srgbClr val="1E2B46"/>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1" name="TextBox 10"/>
          <p:cNvSpPr txBox="1"/>
          <p:nvPr/>
        </p:nvSpPr>
        <p:spPr>
          <a:xfrm>
            <a:off x="3081528" y="2221992"/>
            <a:ext cx="11795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Resource Group</a:t>
            </a:r>
          </a:p>
        </p:txBody>
      </p:sp>
      <p:cxnSp>
        <p:nvCxnSpPr>
          <p:cNvPr id="12" name="Connector 11"/>
          <p:cNvCxnSpPr/>
          <p:nvPr/>
        </p:nvCxnSpPr>
        <p:spPr>
          <a:xfrm>
            <a:off x="4334256"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471416" y="2148840"/>
            <a:ext cx="1115568" cy="777240"/>
          </a:xfrm>
          <a:prstGeom prst="roundRect">
            <a:avLst/>
          </a:prstGeom>
          <a:solidFill>
            <a:srgbClr val="1E2B46"/>
          </a:solidFill>
          <a:ln w="19050">
            <a:solidFill>
              <a:srgbClr val="2AA56E"/>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4" name="TextBox 13"/>
          <p:cNvSpPr txBox="1"/>
          <p:nvPr/>
        </p:nvSpPr>
        <p:spPr>
          <a:xfrm>
            <a:off x="4544568"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VNet/Subnet</a:t>
            </a:r>
          </a:p>
        </p:txBody>
      </p:sp>
      <p:cxnSp>
        <p:nvCxnSpPr>
          <p:cNvPr id="15" name="Connector 14"/>
          <p:cNvCxnSpPr/>
          <p:nvPr/>
        </p:nvCxnSpPr>
        <p:spPr>
          <a:xfrm>
            <a:off x="5586983" y="2532888"/>
            <a:ext cx="137161"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724144" y="2148840"/>
            <a:ext cx="1115568" cy="777240"/>
          </a:xfrm>
          <a:prstGeom prst="roundRect">
            <a:avLst/>
          </a:prstGeom>
          <a:solidFill>
            <a:srgbClr val="1E2B46"/>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17" name="TextBox 16"/>
          <p:cNvSpPr txBox="1"/>
          <p:nvPr/>
        </p:nvSpPr>
        <p:spPr>
          <a:xfrm>
            <a:off x="5797296"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NSG/NIC</a:t>
            </a:r>
          </a:p>
        </p:txBody>
      </p:sp>
      <p:cxnSp>
        <p:nvCxnSpPr>
          <p:cNvPr id="18" name="Connector 17"/>
          <p:cNvCxnSpPr/>
          <p:nvPr/>
        </p:nvCxnSpPr>
        <p:spPr>
          <a:xfrm>
            <a:off x="6839712"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6976872" y="2148840"/>
            <a:ext cx="1115568" cy="777240"/>
          </a:xfrm>
          <a:prstGeom prst="roundRect">
            <a:avLst/>
          </a:prstGeom>
          <a:solidFill>
            <a:srgbClr val="1E2B46"/>
          </a:solidFill>
          <a:ln w="19050">
            <a:solidFill>
              <a:srgbClr val="7D5AD2"/>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0" name="TextBox 19"/>
          <p:cNvSpPr txBox="1"/>
          <p:nvPr/>
        </p:nvSpPr>
        <p:spPr>
          <a:xfrm>
            <a:off x="7050024"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VMs</a:t>
            </a:r>
          </a:p>
        </p:txBody>
      </p:sp>
      <p:cxnSp>
        <p:nvCxnSpPr>
          <p:cNvPr id="21" name="Connector 20"/>
          <p:cNvCxnSpPr/>
          <p:nvPr/>
        </p:nvCxnSpPr>
        <p:spPr>
          <a:xfrm>
            <a:off x="8092440"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29600" y="2148840"/>
            <a:ext cx="1115568" cy="777240"/>
          </a:xfrm>
          <a:prstGeom prst="roundRect">
            <a:avLst/>
          </a:prstGeom>
          <a:solidFill>
            <a:srgbClr val="1E2B46"/>
          </a:solidFill>
          <a:ln w="19050">
            <a:solidFill>
              <a:srgbClr val="F2994A"/>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3" name="TextBox 22"/>
          <p:cNvSpPr txBox="1"/>
          <p:nvPr/>
        </p:nvSpPr>
        <p:spPr>
          <a:xfrm>
            <a:off x="8302752"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LB + Probe</a:t>
            </a:r>
          </a:p>
        </p:txBody>
      </p:sp>
      <p:cxnSp>
        <p:nvCxnSpPr>
          <p:cNvPr id="24" name="Connector 23"/>
          <p:cNvCxnSpPr/>
          <p:nvPr/>
        </p:nvCxnSpPr>
        <p:spPr>
          <a:xfrm>
            <a:off x="9345168"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82328" y="2148840"/>
            <a:ext cx="1325880" cy="777240"/>
          </a:xfrm>
          <a:prstGeom prst="roundRect">
            <a:avLst/>
          </a:prstGeom>
          <a:solidFill>
            <a:srgbClr val="1E2B46"/>
          </a:solidFill>
          <a:ln w="19050">
            <a:solidFill>
              <a:srgbClr val="2DBECD"/>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6" name="TextBox 25"/>
          <p:cNvSpPr txBox="1"/>
          <p:nvPr/>
        </p:nvSpPr>
        <p:spPr>
          <a:xfrm>
            <a:off x="9555480" y="2221992"/>
            <a:ext cx="1179576"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Backend Pool</a:t>
            </a:r>
          </a:p>
        </p:txBody>
      </p:sp>
      <p:cxnSp>
        <p:nvCxnSpPr>
          <p:cNvPr id="27" name="Connector 26"/>
          <p:cNvCxnSpPr/>
          <p:nvPr/>
        </p:nvCxnSpPr>
        <p:spPr>
          <a:xfrm>
            <a:off x="10808207" y="2532888"/>
            <a:ext cx="137160" cy="0"/>
          </a:xfrm>
          <a:prstGeom prst="line">
            <a:avLst/>
          </a:prstGeom>
          <a:ln w="25400">
            <a:solidFill>
              <a:srgbClr val="A0AFC8"/>
            </a:solidFill>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10945367" y="2148840"/>
            <a:ext cx="1115568" cy="777240"/>
          </a:xfrm>
          <a:prstGeom prst="roundRect">
            <a:avLst/>
          </a:prstGeom>
          <a:solidFill>
            <a:srgbClr val="1E2B46"/>
          </a:solidFill>
          <a:ln w="19050">
            <a:solidFill>
              <a:srgbClr val="2D69D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29" name="TextBox 28"/>
          <p:cNvSpPr txBox="1"/>
          <p:nvPr/>
        </p:nvSpPr>
        <p:spPr>
          <a:xfrm>
            <a:off x="11018519" y="2221992"/>
            <a:ext cx="969264" cy="630936"/>
          </a:xfrm>
          <a:prstGeom prst="rect">
            <a:avLst/>
          </a:prstGeom>
          <a:noFill/>
        </p:spPr>
        <p:txBody>
          <a:bodyPr wrap="square" anchor="ctr" lIns="38100" rIns="38100" tIns="25400" bIns="25400">
            <a:spAutoFit/>
          </a:bodyPr>
          <a:lstStyle/>
          <a:p>
            <a:pPr algn="ctr">
              <a:defRPr sz="1100" b="1">
                <a:solidFill>
                  <a:srgbClr val="141F37"/>
                </a:solidFill>
              </a:defRPr>
            </a:pPr>
            <a:r>
              <a:rPr sz="1100">
                <a:solidFill>
                  <a:srgbClr val="232A37"/>
                </a:solidFill>
                <a:latin typeface="Arial"/>
              </a:rPr>
              <a:t>Outputs</a:t>
            </a:r>
          </a:p>
        </p:txBody>
      </p:sp>
      <p:sp>
        <p:nvSpPr>
          <p:cNvPr id="30" name="Rounded Rectangle 29"/>
          <p:cNvSpPr/>
          <p:nvPr/>
        </p:nvSpPr>
        <p:spPr>
          <a:xfrm>
            <a:off x="914400" y="3886200"/>
            <a:ext cx="10241280" cy="1143000"/>
          </a:xfrm>
          <a:prstGeom prst="roundRect">
            <a:avLst/>
          </a:prstGeom>
          <a:solidFill>
            <a:srgbClr val="FFFFFF"/>
          </a:solidFill>
          <a:ln>
            <a:solidFill>
              <a:srgbClr val="DCE2EC"/>
            </a:solid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1" name="Rectangle 30"/>
          <p:cNvSpPr/>
          <p:nvPr/>
        </p:nvSpPr>
        <p:spPr>
          <a:xfrm>
            <a:off x="914400" y="3886200"/>
            <a:ext cx="64008" cy="1143000"/>
          </a:xfrm>
          <a:prstGeom prst="rect">
            <a:avLst/>
          </a:prstGeom>
          <a:solidFill>
            <a:srgbClr val="2D69DC"/>
          </a:solidFill>
          <a:ln>
            <a:noFill/>
          </a:ln>
        </p:spPr>
        <p:style>
          <a:lnRef idx="1">
            <a:schemeClr val="accent1"/>
          </a:lnRef>
          <a:fillRef idx="3">
            <a:schemeClr val="accent1"/>
          </a:fillRef>
          <a:effectRef idx="2">
            <a:schemeClr val="accent1"/>
          </a:effectRef>
          <a:fontRef idx="minor">
            <a:schemeClr val="lt1"/>
          </a:fontRef>
        </p:style>
        <p:txBody>
          <a:bodyPr rtlCol="0" anchor="ctr" wrap="square" lIns="38100" rIns="38100" tIns="25400" bIns="25400"/>
          <a:lstStyle/>
          <a:p>
            <a:pPr algn="ctr"/>
          </a:p>
        </p:txBody>
      </p:sp>
      <p:sp>
        <p:nvSpPr>
          <p:cNvPr id="32" name="TextBox 31"/>
          <p:cNvSpPr txBox="1"/>
          <p:nvPr/>
        </p:nvSpPr>
        <p:spPr>
          <a:xfrm>
            <a:off x="1115568" y="4023360"/>
            <a:ext cx="9875519" cy="384048"/>
          </a:xfrm>
          <a:prstGeom prst="rect">
            <a:avLst/>
          </a:prstGeom>
          <a:noFill/>
        </p:spPr>
        <p:txBody>
          <a:bodyPr wrap="square" lIns="38100" rIns="38100" tIns="25400" bIns="25400">
            <a:spAutoFit/>
          </a:bodyPr>
          <a:lstStyle/>
          <a:p>
            <a:pPr>
              <a:defRPr sz="1500" b="1">
                <a:solidFill>
                  <a:srgbClr val="141F37"/>
                </a:solidFill>
              </a:defRPr>
            </a:pPr>
            <a:r>
              <a:rPr sz="1100">
                <a:solidFill>
                  <a:srgbClr val="232A37"/>
                </a:solidFill>
                <a:latin typeface="Arial"/>
              </a:rPr>
              <a:t>Result</a:t>
            </a:r>
          </a:p>
        </p:txBody>
      </p:sp>
      <p:sp>
        <p:nvSpPr>
          <p:cNvPr id="33" name="TextBox 32"/>
          <p:cNvSpPr txBox="1"/>
          <p:nvPr/>
        </p:nvSpPr>
        <p:spPr>
          <a:xfrm>
            <a:off x="1115568" y="4480560"/>
            <a:ext cx="9857232" cy="429768"/>
          </a:xfrm>
          <a:prstGeom prst="rect">
            <a:avLst/>
          </a:prstGeom>
          <a:noFill/>
        </p:spPr>
        <p:txBody>
          <a:bodyPr wrap="square" lIns="38100" rIns="38100" tIns="25400" bIns="25400">
            <a:spAutoFit/>
          </a:bodyPr>
          <a:lstStyle/>
          <a:p>
            <a:pPr>
              <a:spcAft>
                <a:spcPts val="500"/>
              </a:spcAft>
              <a:defRPr sz="1100">
                <a:solidFill>
                  <a:srgbClr val="232A37"/>
                </a:solidFill>
              </a:defRPr>
            </a:pPr>
            <a:r>
              <a:rPr sz="1100">
                <a:solidFill>
                  <a:srgbClr val="232A37"/>
                </a:solidFill>
                <a:latin typeface="Arial"/>
              </a:rPr>
              <a:t>A static Azure public IP fronts the Standard Load Balancer. The LB forwards port 80 traffic only to healthy VM NICs in the web subnet. Terraform state is stored centrally in Azure Blob Storage.</a:t>
            </a:r>
          </a:p>
        </p:txBody>
      </p:sp>
      <p:sp>
        <p:nvSpPr>
          <p:cNvPr id="34" name="TextBox 33"/>
          <p:cNvSpPr txBox="1"/>
          <p:nvPr/>
        </p:nvSpPr>
        <p:spPr>
          <a:xfrm>
            <a:off x="822960" y="5669280"/>
            <a:ext cx="10515600" cy="457200"/>
          </a:xfrm>
          <a:prstGeom prst="rect">
            <a:avLst/>
          </a:prstGeom>
          <a:noFill/>
        </p:spPr>
        <p:txBody>
          <a:bodyPr wrap="square" lIns="38100" rIns="38100" tIns="25400" bIns="25400">
            <a:spAutoFit/>
          </a:bodyPr>
          <a:lstStyle/>
          <a:p>
            <a:pPr algn="ctr">
              <a:defRPr sz="1700" b="1">
                <a:solidFill>
                  <a:srgbClr val="2DBECD"/>
                </a:solidFill>
              </a:defRPr>
            </a:pPr>
            <a:r>
              <a:rPr sz="1100">
                <a:solidFill>
                  <a:srgbClr val="232A37"/>
                </a:solidFill>
                <a:latin typeface="Arial"/>
              </a:rPr>
              <a:t>Infrastructure as Code • Repeatable • Reviewable • Version Controlled</a:t>
            </a:r>
          </a:p>
        </p:txBody>
      </p:sp>
      <p:sp>
        <p:nvSpPr>
          <p:cNvPr id="35" name="TextBox 34"/>
          <p:cNvSpPr txBox="1"/>
          <p:nvPr/>
        </p:nvSpPr>
        <p:spPr>
          <a:xfrm>
            <a:off x="502920" y="6473952"/>
            <a:ext cx="11155680" cy="228600"/>
          </a:xfrm>
          <a:prstGeom prst="rect">
            <a:avLst/>
          </a:prstGeom>
          <a:noFill/>
        </p:spPr>
        <p:txBody>
          <a:bodyPr wrap="square" lIns="38100" rIns="38100" tIns="25400" bIns="25400">
            <a:spAutoFit/>
          </a:bodyPr>
          <a:lstStyle/>
          <a:p>
            <a:pPr>
              <a:defRPr sz="800">
                <a:solidFill>
                  <a:srgbClr val="69768C"/>
                </a:solidFill>
              </a:defRPr>
            </a:pPr>
            <a:r>
              <a:rPr sz="800">
                <a:solidFill>
                  <a:srgbClr val="69768C"/>
                </a:solidFill>
                <a:latin typeface="Arial"/>
              </a:rPr>
              <a:t>KYN Project • Terraform on Azure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Terraform on Azure – Complete KYN Project Architecture</dc:title>
  <dc:subject>Terraform Azure training presentation</dc:subject>
  <dc:creator>Terraform Azure Training</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